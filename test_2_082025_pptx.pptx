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8" Type="http://schemas.openxmlformats.org/officeDocument/2006/relationships/viewProps" Target="viewProps.xml" /><Relationship Id="rId27" Type="http://schemas.openxmlformats.org/officeDocument/2006/relationships/presProps" Target="presProps.xml" /><Relationship Id="rId1" Type="http://schemas.openxmlformats.org/officeDocument/2006/relationships/slideMaster" Target="slideMasters/slideMaster1.xml" /><Relationship Id="rId30" Type="http://schemas.openxmlformats.org/officeDocument/2006/relationships/tableStyles" Target="tableStyles.xml" /><Relationship Id="rId2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Hypothesis Testing for Continuous Data</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Lesley Chapman Hannah, Ph.D., M.S.College of Graduate StudiesNortheast Ohio Medical University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Lecture Overview</a:t>
            </a:r>
          </a:p>
          <a:p>
            <a:pPr lvl="0"/>
            <a:r>
              <a:rPr/>
              <a:t>introduce the t-test framework for hypothesis testing with continuous data</a:t>
            </a:r>
          </a:p>
          <a:p>
            <a:pPr lvl="0" indent="0" marL="0">
              <a:buNone/>
            </a:pPr>
            <a:r>
              <a:rPr/>
              <a:t>Motivation:</a:t>
            </a:r>
          </a:p>
          <a:p>
            <a:pPr lvl="0"/>
            <a:r>
              <a:rPr/>
              <a:t>many biomedical and clinical variables vary continuously across patients, including biomarker levels, tumor measurements, blood pressure, and symptom severity scores</a:t>
            </a:r>
          </a:p>
          <a:p>
            <a:pPr lvl="0" indent="0" marL="0">
              <a:buNone/>
            </a:pPr>
            <a:r>
              <a:rPr/>
              <a:t>The lecture introduces:</a:t>
            </a:r>
          </a:p>
          <a:p>
            <a:pPr lvl="0"/>
            <a:r>
              <a:rPr/>
              <a:t>t distribution</a:t>
            </a:r>
          </a:p>
          <a:p>
            <a:pPr lvl="0"/>
            <a:r>
              <a:rPr/>
              <a:t>t-statistics and p-values</a:t>
            </a:r>
          </a:p>
          <a:p>
            <a:pPr lvl="0" indent="0" marL="0">
              <a:spcBef>
                <a:spcPts val="3000"/>
              </a:spcBef>
              <a:buNone/>
            </a:pPr>
            <a:r>
              <a:rPr b="1"/>
              <a:t>one-sample, independent two-sample, and paired t tests</a:t>
            </a:r>
          </a:p>
          <a:p>
            <a:pPr lvl="0" indent="0" marL="0">
              <a:spcBef>
                <a:spcPts val="3000"/>
              </a:spcBef>
              <a:buNone/>
            </a:pPr>
            <a:r>
              <a:rPr b="1"/>
              <a:t>Background</a:t>
            </a:r>
          </a:p>
          <a:p>
            <a:pPr lvl="0" indent="0" marL="0">
              <a:buNone/>
            </a:pPr>
            <a:r>
              <a:rPr/>
              <a:t>As a review hypothesis tests involve:</a:t>
            </a:r>
          </a:p>
          <a:p>
            <a:pPr lvl="0"/>
            <a:r>
              <a:rPr/>
              <a:t>defining null and alternative hypotheses</a:t>
            </a:r>
          </a:p>
          <a:p>
            <a:pPr lvl="1"/>
            <a:r>
              <a:rPr/>
              <a:t>null hypothesis represents a proposed explanation about the population</a:t>
            </a:r>
          </a:p>
          <a:p>
            <a:pPr lvl="1"/>
            <a:r>
              <a:rPr/>
              <a:t>alternative hypothesis represents a competing scientific explanation suggesting the population mean is larger than the benchmark</a:t>
            </a:r>
          </a:p>
          <a:p>
            <a:pPr lvl="0"/>
            <a:r>
              <a:rPr/>
              <a:t>constructing a test statistic that summarized the stretch of evidence against the null hypothesis</a:t>
            </a:r>
          </a:p>
          <a:p>
            <a:pPr lvl="0"/>
            <a:r>
              <a:rPr/>
              <a:t>computing a p-value that quantifies the probability of having obtained a comparable or more extreme value of the test statistic under the null hypothesis</a:t>
            </a:r>
          </a:p>
          <a:p>
            <a:pPr lvl="0"/>
            <a:r>
              <a:rPr/>
              <a:t>based on the p-value we diced whether to reject the null hypothesis</a:t>
            </a:r>
          </a:p>
          <a:p>
            <a:pPr lvl="0"/>
            <a:r>
              <a:rPr/>
              <a:t>research often involves studying continuous variables such as: tumor volume, percent tumor reduction, circulating tumor DNA concentration, or immune-cell abundance</a:t>
            </a:r>
          </a:p>
          <a:p>
            <a:pPr lvl="0"/>
            <a:r>
              <a:rPr/>
              <a:t>measurements vary across patients because biological systems are inherently heterogeneous and because all sample-based measurements contain some degree of random variability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Background</a:t>
                </a:r>
              </a:p>
              <a:p>
                <a:pPr lvl="0"/>
                <a:r>
                  <a:rPr/>
                  <a:t>hypothesis tests for continuous data can be used as tools to help researchers determine whether an observed difference in a sample is large enough to suggest a meaningful population-level effect rather than ordinary sampling variability alone</a:t>
                </a:r>
              </a:p>
              <a:p>
                <a:pPr lvl="0"/>
                <a:r>
                  <a:rPr/>
                  <a:t>hypothesis tests allows one to determine whether the observed difference between two continuous outcomes is large relative to the amount of variability expected across repeated samples rather than just reporting the numerical difference between two continuous outcomes</a:t>
                </a:r>
              </a:p>
              <a:p>
                <a:pPr lvl="0"/>
                <a:r>
                  <a:rPr/>
                  <a:t>different statistical tests are used depending on what researchers want to compare and how the data were collected</a:t>
                </a:r>
              </a:p>
              <a:p>
                <a:pPr lvl="0"/>
                <a:r>
                  <a:rPr/>
                  <a:t>Review: </a:t>
                </a:r>
                <a:r>
                  <a:rPr b="1"/>
                  <a:t>test statistic</a:t>
                </a:r>
                <a:r>
                  <a:rPr/>
                  <a:t> is a numerical quantity calculated from sample data that measures how far the observed estimate is from the null value after accounting for variability</a:t>
                </a:r>
              </a:p>
              <a:p>
                <a:pPr lvl="0"/>
                <a:r>
                  <a:rPr/>
                  <a:t>in order to use continuous data to find evidence against or for the null hypothesis one computes a test statistic which summarizes the extent to which our data are consistent with </a:t>
                </a:r>
                <a14:m>
                  <m:oMath xmlns:m="http://schemas.openxmlformats.org/officeDocument/2006/math">
                    <m:sSub>
                      <m:e>
                        <m:r>
                          <m:t>H</m:t>
                        </m:r>
                      </m:e>
                      <m:sub>
                        <m:r>
                          <m:t>0</m:t>
                        </m:r>
                      </m:sub>
                    </m:sSub>
                  </m:oMath>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Definition : t-test</a:t>
            </a:r>
          </a:p>
        </p:txBody>
      </p:sp>
      <p:sp>
        <p:nvSpPr>
          <p:cNvPr id="3" name="Content Placeholder 2"/>
          <p:cNvSpPr>
            <a:spLocks noGrp="1"/>
          </p:cNvSpPr>
          <p:nvPr>
            <p:ph idx="1"/>
          </p:nvPr>
        </p:nvSpPr>
        <p:spPr/>
        <p:txBody>
          <a:bodyPr/>
          <a:lstStyle/>
          <a:p>
            <a:pPr lvl="0" indent="0" marL="0">
              <a:buNone/>
            </a:pPr>
            <a:r>
              <a:rPr>
                <a:latin typeface="Courier"/>
              </a:rPr>
              <a:t>t-test</a:t>
            </a:r>
            <a:r>
              <a:rPr/>
              <a:t> : statistical approach used to compare the means of two groups of continuous measurements</a:t>
            </a:r>
          </a:p>
          <a:p>
            <a:pPr lvl="0" indent="0" marL="0">
              <a:buNone/>
            </a:pPr>
            <a:r>
              <a:rPr/>
              <a:t>t-tests also account for:</a:t>
            </a:r>
          </a:p>
          <a:p>
            <a:pPr lvl="0"/>
            <a:r>
              <a:rPr/>
              <a:t>sampling variability</a:t>
            </a:r>
          </a:p>
          <a:p>
            <a:pPr lvl="0"/>
            <a:r>
              <a:rPr/>
              <a:t>sample size</a:t>
            </a:r>
          </a:p>
          <a:p>
            <a:pPr lvl="0"/>
            <a:r>
              <a:rPr/>
              <a:t>uncertainty in the population standard deviation</a:t>
            </a:r>
          </a:p>
          <a:p>
            <a:pPr lvl="0"/>
            <a:r>
              <a:rPr/>
              <a:t>continuous variables often vary across patients</a:t>
            </a:r>
          </a:p>
          <a:p>
            <a:pPr lvl="0" indent="0" marL="0">
              <a:buNone/>
            </a:pPr>
            <a:r>
              <a:rPr/>
              <a:t>For example:</a:t>
            </a:r>
          </a:p>
          <a:p>
            <a:pPr lvl="0"/>
            <a:r>
              <a:rPr/>
              <a:t>tumor burden differs across individuals</a:t>
            </a:r>
          </a:p>
          <a:p>
            <a:pPr lvl="0"/>
            <a:r>
              <a:rPr/>
              <a:t>gene expression varies continuously</a:t>
            </a:r>
          </a:p>
          <a:p>
            <a:pPr lvl="0"/>
            <a:r>
              <a:rPr/>
              <a:t>immune activation varies in magnitude</a:t>
            </a:r>
          </a:p>
          <a:p>
            <a:pPr lvl="0"/>
            <a:r>
              <a:rPr/>
              <a:t>t-tests are designed to evaluate whether the observed sample mean differs enough from a hypothesized population mean to suggest a true biological effect</a:t>
            </a:r>
          </a:p>
          <a:p>
            <a:pPr lvl="0" indent="0" marL="0">
              <a:buNone/>
            </a:pPr>
            <a:r>
              <a:rPr/>
              <a:t>The statistical test can be used for:</a:t>
            </a:r>
          </a:p>
          <a:p>
            <a:pPr lvl="0"/>
            <a:r>
              <a:rPr/>
              <a:t>comparing treatment groups</a:t>
            </a:r>
          </a:p>
          <a:p>
            <a:pPr lvl="0"/>
            <a:r>
              <a:rPr/>
              <a:t>evaluating biomarker effects</a:t>
            </a:r>
          </a:p>
          <a:p>
            <a:pPr lvl="0"/>
            <a:r>
              <a:rPr/>
              <a:t>testing mean biological changes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Review: Definition of a p-Value</a:t>
            </a:r>
          </a:p>
        </p:txBody>
      </p:sp>
      <p:sp>
        <p:nvSpPr>
          <p:cNvPr id="3" name="Content Placeholder 2"/>
          <p:cNvSpPr>
            <a:spLocks noGrp="1"/>
          </p:cNvSpPr>
          <p:nvPr>
            <p:ph idx="1"/>
          </p:nvPr>
        </p:nvSpPr>
        <p:spPr/>
        <p:txBody>
          <a:bodyPr/>
          <a:lstStyle/>
          <a:p>
            <a:pPr lvl="0" indent="0" marL="0">
              <a:buNone/>
            </a:pPr>
            <a:r>
              <a:rPr>
                <a:latin typeface="Courier"/>
              </a:rPr>
              <a:t>p-value</a:t>
            </a:r>
            <a:r>
              <a:rPr/>
              <a:t>: probability of observing results at least as extreme as the observed data, given that the null hypothesis is true</a:t>
            </a:r>
          </a:p>
          <a:p>
            <a:pPr lvl="0" indent="0" marL="0">
              <a:buNone/>
            </a:pPr>
            <a:r>
              <a:rPr/>
              <a:t>The p-value measures:</a:t>
            </a:r>
          </a:p>
          <a:p>
            <a:pPr lvl="0" indent="0" marL="1270000">
              <a:buNone/>
            </a:pPr>
            <a:r>
              <a:rPr sz="2000"/>
              <a:t>how unusual the observed sample result would be if the null hypothesis were true.</a:t>
            </a:r>
          </a:p>
          <a:p>
            <a:pPr lvl="0" indent="0" marL="0">
              <a:buNone/>
            </a:pPr>
            <a:r>
              <a:rPr/>
              <a:t>Small p-values indicate:</a:t>
            </a:r>
          </a:p>
          <a:p>
            <a:pPr lvl="0"/>
            <a:r>
              <a:rPr/>
              <a:t>observed data would be difficult to explain under the null model</a:t>
            </a:r>
          </a:p>
          <a:p>
            <a:pPr lvl="0"/>
            <a:r>
              <a:rPr/>
              <a:t>sample provides evidence against the null hypothesis</a:t>
            </a:r>
          </a:p>
          <a:p>
            <a:pPr lvl="0" indent="0" marL="0">
              <a:buNone/>
            </a:pPr>
            <a:r>
              <a:rPr/>
              <a:t>Large p-values indicate:</a:t>
            </a:r>
          </a:p>
          <a:p>
            <a:pPr lvl="0"/>
            <a:r>
              <a:rPr/>
              <a:t>observed data are reasonably consistent with the null model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 t Distribution Is Used</a:t>
            </a:r>
          </a:p>
        </p:txBody>
      </p:sp>
      <p:sp>
        <p:nvSpPr>
          <p:cNvPr id="3" name="Content Placeholder 2"/>
          <p:cNvSpPr>
            <a:spLocks noGrp="1"/>
          </p:cNvSpPr>
          <p:nvPr>
            <p:ph idx="1"/>
          </p:nvPr>
        </p:nvSpPr>
        <p:spPr/>
        <p:txBody>
          <a:bodyPr/>
          <a:lstStyle/>
          <a:p>
            <a:pPr lvl="0" indent="0" marL="0">
              <a:buNone/>
            </a:pPr>
            <a:r>
              <a:rPr>
                <a:latin typeface="Courier"/>
              </a:rPr>
              <a:t>t distribution</a:t>
            </a:r>
            <a:r>
              <a:rPr/>
              <a:t> : probability distribution used to model uncertainty in standardized sample mean differences when the population standard deviation is unknown</a:t>
            </a:r>
          </a:p>
          <a:p>
            <a:pPr lvl="0" indent="0" marL="0">
              <a:buNone/>
            </a:pPr>
            <a:r>
              <a:rPr/>
              <a:t>The t distribution is used because:</a:t>
            </a:r>
          </a:p>
          <a:p>
            <a:pPr lvl="0"/>
            <a:r>
              <a:rPr/>
              <a:t>the population standard deviation is unknown</a:t>
            </a:r>
          </a:p>
          <a:p>
            <a:pPr lvl="0"/>
            <a:r>
              <a:rPr/>
              <a:t>variability must be estimated using the sample standard deviation</a:t>
            </a:r>
          </a:p>
          <a:p>
            <a:pPr lvl="0" indent="0" marL="0">
              <a:buNone/>
            </a:pPr>
            <a:r>
              <a:rPr/>
              <a:t>distribution accounts for:</a:t>
            </a:r>
          </a:p>
          <a:p>
            <a:pPr lvl="0"/>
            <a:r>
              <a:rPr/>
              <a:t>sampling variability</a:t>
            </a:r>
          </a:p>
          <a:p>
            <a:pPr lvl="0"/>
            <a:r>
              <a:rPr/>
              <a:t>uncertainty in the estimated standard deviation</a:t>
            </a:r>
          </a:p>
          <a:p>
            <a:pPr lvl="0"/>
            <a:r>
              <a:rPr/>
              <a:t>effects of small sample size</a:t>
            </a:r>
          </a:p>
          <a:p>
            <a:pPr lvl="0" indent="0" marL="0">
              <a:buNone/>
            </a:pPr>
            <a:r>
              <a:rPr/>
              <a:t>Distribution key characteristics:</a:t>
            </a:r>
          </a:p>
          <a:p>
            <a:pPr lvl="0"/>
            <a:r>
              <a:rPr/>
              <a:t>symmetric and centered at 0</a:t>
            </a:r>
          </a:p>
          <a:p>
            <a:pPr lvl="0"/>
            <a:r>
              <a:rPr/>
              <a:t>similar in shape to the standard normal distribution</a:t>
            </a:r>
          </a:p>
          <a:p>
            <a:pPr lvl="0"/>
            <a:r>
              <a:rPr/>
              <a:t>assigns greater probability to more extreme values</a:t>
            </a:r>
          </a:p>
          <a:p>
            <a:pPr lvl="0" indent="0" marL="0">
              <a:buNone/>
            </a:pPr>
            <a:r>
              <a:rPr/>
              <a:t>Note: as sample size increases:</a:t>
            </a:r>
          </a:p>
          <a:p>
            <a:pPr lvl="0"/>
            <a:r>
              <a:rPr/>
              <a:t>estimates of variability become more stable</a:t>
            </a:r>
          </a:p>
          <a:p>
            <a:pPr lvl="0"/>
            <a:r>
              <a:rPr/>
              <a:t>uncertainty decreases</a:t>
            </a:r>
          </a:p>
          <a:p>
            <a:pPr lvl="0"/>
            <a:r>
              <a:rPr/>
              <a:t>t distribution approaches the standard normal distribution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 t Distribution Is Used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p>
              <a:p>
                <a:pPr lvl="0" indent="0" marL="0">
                  <a:buNone/>
                </a:pPr>
                <a:r>
                  <a:rPr b="1"/>
                  <a:t>Interpretation</a:t>
                </a:r>
              </a:p>
              <a:p>
                <a:pPr lvl="0"/>
                <a:r>
                  <a:rPr>
                    <a:latin typeface="Courier"/>
                  </a:rPr>
                  <a:t>standard normal distribution</a:t>
                </a:r>
                <a:r>
                  <a:rPr/>
                  <a:t>: narrow distribution because the population standard deviation is treated as known</a:t>
                </a:r>
              </a:p>
              <a:p>
                <a:pPr lvl="0"/>
                <a:r>
                  <a:rPr>
                    <a:latin typeface="Courier"/>
                  </a:rPr>
                  <a:t>t distribution(s)</a:t>
                </a:r>
                <a:r>
                  <a:rPr/>
                  <a:t>: wider overall because variability is estimated from the sample data and introduces additional uncertainty</a:t>
                </a:r>
              </a:p>
              <a:p>
                <a:pPr lvl="0" indent="0" marL="0">
                  <a:buNone/>
                </a:pPr>
                <a:r>
                  <a:rPr/>
                  <a:t>This effect is strongest with small sample sizes:</a:t>
                </a:r>
              </a:p>
              <a:p>
                <a:pPr lvl="0"/>
                <a14:m>
                  <m:oMath xmlns:m="http://schemas.openxmlformats.org/officeDocument/2006/math">
                    <m:r>
                      <m:t>t</m:t>
                    </m:r>
                  </m:oMath>
                </a14:m>
                <a:r>
                  <a:rPr/>
                  <a:t> distribution with small degrees of freedom </a:t>
                </a:r>
                <a14:m>
                  <m:oMath xmlns:m="http://schemas.openxmlformats.org/officeDocument/2006/math">
                    <m:d>
                      <m:dPr>
                        <m:begChr m:val="("/>
                        <m:sepChr m:val=""/>
                        <m:endChr m:val=")"/>
                        <m:grow/>
                      </m:dPr>
                      <m:e>
                        <m:r>
                          <m:t>d</m:t>
                        </m:r>
                        <m:r>
                          <m:t>f</m:t>
                        </m:r>
                        <m:r>
                          <m:rPr>
                            <m:sty m:val="p"/>
                          </m:rPr>
                          <m:t>=</m:t>
                        </m:r>
                        <m:r>
                          <m:t>3</m:t>
                        </m:r>
                      </m:e>
                    </m:d>
                  </m:oMath>
                </a14:m>
                <a:r>
                  <a:rPr/>
                  <a:t> has heavier tails</a:t>
                </a:r>
              </a:p>
              <a:p>
                <a:pPr lvl="0"/>
                <a:r>
                  <a:rPr/>
                  <a:t>extreme values are considered more plausible under the null hypothesis</a:t>
                </a:r>
              </a:p>
              <a:p>
                <a:pPr lvl="0"/>
                <a:r>
                  <a:rPr/>
                  <a:t>larger observed test statistics are therefore needed to produce small p-values</a:t>
                </a:r>
              </a:p>
              <a:p>
                <a:pPr lvl="0" indent="0" marL="0">
                  <a:buNone/>
                </a:pPr>
                <a:r>
                  <a:rPr/>
                  <a:t>As sample size increases:</a:t>
                </a:r>
              </a:p>
              <a:p>
                <a:pPr lvl="0"/>
                <a:r>
                  <a:rPr/>
                  <a:t>estimates of variability become more stable</a:t>
                </a:r>
              </a:p>
              <a:p>
                <a:pPr lvl="0"/>
                <a:r>
                  <a:rPr/>
                  <a:t>uncertainty decreases</a:t>
                </a:r>
              </a:p>
              <a:p>
                <a:pPr lvl="0"/>
                <a:r>
                  <a:rPr/>
                  <a:t>t distribution </a:t>
                </a:r>
                <a14:m>
                  <m:oMath xmlns:m="http://schemas.openxmlformats.org/officeDocument/2006/math">
                    <m:d>
                      <m:dPr>
                        <m:begChr m:val="("/>
                        <m:sepChr m:val=""/>
                        <m:endChr m:val=")"/>
                        <m:grow/>
                      </m:dPr>
                      <m:e>
                        <m:r>
                          <m:t>d</m:t>
                        </m:r>
                        <m:r>
                          <m:t>f</m:t>
                        </m:r>
                        <m:r>
                          <m:rPr>
                            <m:sty m:val="p"/>
                          </m:rPr>
                          <m:t>=</m:t>
                        </m:r>
                        <m:r>
                          <m:t>30</m:t>
                        </m:r>
                      </m:e>
                    </m:d>
                  </m:oMath>
                </a14:m>
                <a:r>
                  <a:rPr/>
                  <a:t> becomes closer to the standard normal distribution</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 Between the t-Statistic and p-Value</a:t>
            </a:r>
          </a:p>
          <a:p>
            <a:pPr lvl="0" indent="0" marL="0">
              <a:buNone/>
            </a:pPr>
            <a:r>
              <a:rPr/>
              <a:t>t-test produce both a test statistic [t-statistic] and p-value:</a:t>
            </a:r>
          </a:p>
          <a:p>
            <a:pPr lvl="0"/>
            <a:r>
              <a:rPr/>
              <a:t>test statistic measures distance from the null hypothesis</a:t>
            </a:r>
          </a:p>
          <a:p>
            <a:pPr lvl="0"/>
            <a:r>
              <a:rPr/>
              <a:t>p-value converts this distance into a probability under the null model</a:t>
            </a:r>
          </a:p>
          <a:p>
            <a:pPr lvl="1"/>
            <a:r>
              <a:rPr/>
              <a:t>measures how extreme the observed test statistic is relative to the null distribution</a:t>
            </a:r>
          </a:p>
          <a:p>
            <a:pPr lvl="0" indent="0" marL="0">
              <a:buNone/>
            </a:pPr>
            <a:r>
              <a:rPr/>
              <a:t>Interpretation:</a:t>
            </a:r>
          </a:p>
          <a:p>
            <a:pPr lvl="0"/>
            <a:r>
              <a:rPr/>
              <a:t>large absolute t-statistics indicate that the observed difference is large compared with ordinary sampling variability</a:t>
            </a:r>
          </a:p>
          <a:p>
            <a:pPr lvl="1" indent="0" marL="342900">
              <a:buNone/>
            </a:pPr>
            <a:r>
              <a:rPr/>
              <a:t>→ stronger evidence against the null hypothesis → smaller p-values</a:t>
            </a:r>
          </a:p>
          <a:p>
            <a:pPr lvl="0"/>
            <a:r>
              <a:rPr/>
              <a:t>small absolute t-statistics indicate that the observed difference is similar in magnitude to ordinary sampling variability</a:t>
            </a:r>
          </a:p>
          <a:p>
            <a:pPr lvl="1" indent="0" marL="342900">
              <a:buNone/>
            </a:pPr>
            <a:r>
              <a:rPr/>
              <a:t>→ weaker evidence against the null hypothesis → larger p-values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 Between the t-Statistic and p-Value</a:t>
            </a:r>
          </a:p>
          <a:p>
            <a:pPr lvl="0"/>
            <a:r>
              <a:rPr/>
              <a:t>p-value is found as an area under the t distribution</a:t>
            </a:r>
          </a:p>
          <a:p>
            <a:pPr lvl="0"/>
            <a:r>
              <a:rPr/>
              <a:t>t distribution represents the pattern of t-statistics we would expect to see from repeated samples if the null hypothesis were true</a:t>
            </a:r>
          </a:p>
          <a:p>
            <a:pPr lvl="0" indent="0" marL="0">
              <a:buNone/>
            </a:pPr>
            <a:r>
              <a:rPr/>
              <a:t>Once the observed t-statistic is determined ask:</a:t>
            </a:r>
          </a:p>
          <a:p>
            <a:pPr lvl="0" indent="0" marL="1270000">
              <a:buNone/>
            </a:pPr>
            <a:r>
              <a:rPr sz="2000"/>
              <a:t>How much area is in the part of the t distribution that is as extreme as, or more extreme than, our observed t-statistic?</a:t>
            </a:r>
          </a:p>
          <a:p>
            <a:pPr lvl="0"/>
            <a:r>
              <a:rPr/>
              <a:t>area represents the p-value and location of the area depends on the alternative hypothesis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Statistical Tests for Continuous Data</a:t>
                </a:r>
              </a:p>
              <a:p>
                <a:pPr lvl="0"/>
                <a:r>
                  <a:rPr/>
                  <a:t>before calculating a p-value </a:t>
                </a:r>
                <a14:m>
                  <m:oMath xmlns:m="http://schemas.openxmlformats.org/officeDocument/2006/math">
                    <m:r>
                      <m:rPr>
                        <m:sty m:val="p"/>
                      </m:rPr>
                      <m:t>→</m:t>
                    </m:r>
                  </m:oMath>
                </a14:m>
                <a:r>
                  <a:rPr/>
                  <a:t> choose t-test type based on structure of data</a:t>
                </a:r>
              </a:p>
              <a:p>
                <a:pPr lvl="0"/>
                <a:r>
                  <a:rPr/>
                  <a:t>t-test is a family of statistical methods used to evaluate questions about population means when outcomes are continuous and the population standard deviation is unknown</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One-Tailed t-Test</a:t>
                </a:r>
              </a:p>
              <a:p>
                <a:pPr lvl="0"/>
                <a:r>
                  <a:rPr b="1"/>
                  <a:t>one-tailed t-test</a:t>
                </a:r>
                <a:r>
                  <a:rPr/>
                  <a:t> : hypothesis test used to determine whether a population mean or group mean differs from a reference value in one specific direction</a:t>
                </a:r>
              </a:p>
              <a:p>
                <a:pPr lvl="0" indent="0" marL="0">
                  <a:buNone/>
                </a:pPr>
                <a:r>
                  <a:rPr/>
                  <a:t>alternative hypothesis specifies either:</a:t>
                </a:r>
              </a:p>
              <a:p>
                <a:pPr lvl="0"/>
                <a:r>
                  <a:rPr/>
                  <a:t>mean is greater than the null value, or</a:t>
                </a:r>
              </a:p>
              <a:p>
                <a:pPr lvl="0"/>
                <a:r>
                  <a:rPr/>
                  <a:t>mean is less than the null value</a:t>
                </a:r>
              </a:p>
              <a:p>
                <a:pPr lvl="0" indent="0" marL="0">
                  <a:buNone/>
                </a:pPr>
                <a:r>
                  <a:rPr/>
                  <a:t>Upper-tailed test:</a:t>
                </a:r>
              </a:p>
              <a:p>
                <a:pPr lvl="0" indent="0" marL="0">
                  <a:buNone/>
                </a:pPr>
                <a14:m>
                  <m:oMath xmlns:m="http://schemas.openxmlformats.org/officeDocument/2006/math">
                    <m:sSub>
                      <m:e>
                        <m:r>
                          <m:t>H</m:t>
                        </m:r>
                      </m:e>
                      <m:sub>
                        <m:r>
                          <m:t>0</m:t>
                        </m:r>
                      </m:sub>
                    </m:sSub>
                    <m:r>
                      <m:rPr>
                        <m:sty m:val="p"/>
                      </m:rPr>
                      <m:t>:</m:t>
                    </m:r>
                    <m:r>
                      <m:t>μ</m:t>
                    </m:r>
                    <m:r>
                      <m:rPr>
                        <m:sty m:val="p"/>
                      </m:rPr>
                      <m:t>=</m:t>
                    </m:r>
                    <m:sSub>
                      <m:e>
                        <m:r>
                          <m:t>μ</m:t>
                        </m:r>
                      </m:e>
                      <m:sub>
                        <m:r>
                          <m:t>0</m:t>
                        </m:r>
                      </m:sub>
                    </m:sSub>
                  </m:oMath>
                </a14:m>
              </a:p>
              <a:p>
                <a:pPr lvl="0" indent="0" marL="0">
                  <a:buNone/>
                </a:pPr>
                <a14:m>
                  <m:oMath xmlns:m="http://schemas.openxmlformats.org/officeDocument/2006/math">
                    <m:sSub>
                      <m:e>
                        <m:r>
                          <m:t>H</m:t>
                        </m:r>
                      </m:e>
                      <m:sub>
                        <m:r>
                          <m:t>A</m:t>
                        </m:r>
                      </m:sub>
                    </m:sSub>
                    <m:r>
                      <m:rPr>
                        <m:sty m:val="p"/>
                      </m:rPr>
                      <m:t>:</m:t>
                    </m:r>
                    <m:r>
                      <m:t>μ</m:t>
                    </m:r>
                    <m:r>
                      <m:rPr>
                        <m:sty m:val="p"/>
                      </m:rPr>
                      <m:t>&gt;</m:t>
                    </m:r>
                    <m:sSub>
                      <m:e>
                        <m:r>
                          <m:t>μ</m:t>
                        </m:r>
                      </m:e>
                      <m:sub>
                        <m:r>
                          <m:t>0</m:t>
                        </m:r>
                      </m:sub>
                    </m:sSub>
                  </m:oMath>
                </a14:m>
              </a:p>
              <a:p>
                <a:pPr lvl="0" indent="0" marL="0">
                  <a:buNone/>
                </a:pPr>
                <a:r>
                  <a:rPr/>
                  <a:t>Lower-tailed test:</a:t>
                </a:r>
              </a:p>
              <a:p>
                <a:pPr lvl="0" indent="0" marL="0">
                  <a:buNone/>
                </a:pPr>
                <a14:m>
                  <m:oMath xmlns:m="http://schemas.openxmlformats.org/officeDocument/2006/math">
                    <m:sSub>
                      <m:e>
                        <m:r>
                          <m:t>H</m:t>
                        </m:r>
                      </m:e>
                      <m:sub>
                        <m:r>
                          <m:t>0</m:t>
                        </m:r>
                      </m:sub>
                    </m:sSub>
                    <m:r>
                      <m:rPr>
                        <m:sty m:val="p"/>
                      </m:rPr>
                      <m:t>:</m:t>
                    </m:r>
                    <m:r>
                      <m:t>μ</m:t>
                    </m:r>
                    <m:r>
                      <m:rPr>
                        <m:sty m:val="p"/>
                      </m:rPr>
                      <m:t>=</m:t>
                    </m:r>
                    <m:sSub>
                      <m:e>
                        <m:r>
                          <m:t>μ</m:t>
                        </m:r>
                      </m:e>
                      <m:sub>
                        <m:r>
                          <m:t>0</m:t>
                        </m:r>
                      </m:sub>
                    </m:sSub>
                  </m:oMath>
                </a14:m>
              </a:p>
              <a:p>
                <a:pPr lvl="0" indent="0" marL="0">
                  <a:buNone/>
                </a:pPr>
                <a14:m>
                  <m:oMath xmlns:m="http://schemas.openxmlformats.org/officeDocument/2006/math">
                    <m:sSub>
                      <m:e>
                        <m:r>
                          <m:t>H</m:t>
                        </m:r>
                      </m:e>
                      <m:sub>
                        <m:r>
                          <m:t>A</m:t>
                        </m:r>
                      </m:sub>
                    </m:sSub>
                    <m:r>
                      <m:rPr>
                        <m:sty m:val="p"/>
                      </m:rPr>
                      <m:t>:</m:t>
                    </m:r>
                    <m:r>
                      <m:t>μ</m:t>
                    </m:r>
                    <m:r>
                      <m:rPr>
                        <m:sty m:val="p"/>
                      </m:rPr>
                      <m:t>&lt;</m:t>
                    </m:r>
                    <m:sSub>
                      <m:e>
                        <m:r>
                          <m:t>μ</m:t>
                        </m:r>
                      </m:e>
                      <m:sub>
                        <m:r>
                          <m:t>0</m:t>
                        </m:r>
                      </m:sub>
                    </m:sSub>
                  </m:oMath>
                </a14:m>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One-Tailed t-Test: Example</a:t>
                </a:r>
              </a:p>
              <a:p>
                <a:pPr lvl="0" indent="0" marL="0">
                  <a:buNone/>
                </a:pPr>
                <a:r>
                  <a:rPr b="1"/>
                  <a:t>Background</a:t>
                </a:r>
              </a:p>
              <a:p>
                <a:pPr lvl="0" indent="0" marL="0">
                  <a:buNone/>
                </a:pPr>
                <a:r>
                  <a:rPr/>
                  <a:t>A clinical oncology study measures tumor reduction percentage after treatment in a group of patients.</a:t>
                </a:r>
              </a:p>
              <a:p>
                <a:pPr lvl="0" indent="0" marL="0">
                  <a:buNone/>
                </a:pPr>
                <a:r>
                  <a:rPr/>
                  <a:t>Researchers want to determine whether the average tumor reduction is greater than 0, which would suggest the treatment produces measurable tumor shrinkage on average.</a:t>
                </a:r>
              </a:p>
              <a:p>
                <a:pPr lvl="0" indent="0" marL="0">
                  <a:buNone/>
                </a:pPr>
                <a:r>
                  <a:rPr/>
                  <a:t>Determine:</a:t>
                </a:r>
              </a:p>
              <a:p>
                <a:pPr lvl="0" indent="0" marL="1270000">
                  <a:buNone/>
                </a:pPr>
                <a:r>
                  <a:rPr sz="2000"/>
                  <a:t>Does the treatment produce measurable tumor reduction on average?</a:t>
                </a:r>
              </a:p>
              <a:p>
                <a:pPr lvl="0" indent="0" marL="0">
                  <a:buNone/>
                </a:pPr>
                <a:r>
                  <a:rPr/>
                  <a:t>Where:</a:t>
                </a:r>
              </a:p>
              <a:p>
                <a:pPr lvl="0" indent="0" marL="0">
                  <a:buNone/>
                </a:pPr>
                <a14:m>
                  <m:oMath xmlns:m="http://schemas.openxmlformats.org/officeDocument/2006/math">
                    <m:sSub>
                      <m:e>
                        <m:r>
                          <m:t>H</m:t>
                        </m:r>
                      </m:e>
                      <m:sub>
                        <m:r>
                          <m:t>0</m:t>
                        </m:r>
                      </m:sub>
                    </m:sSub>
                    <m:r>
                      <m:rPr>
                        <m:sty m:val="p"/>
                      </m:rPr>
                      <m:t>:</m:t>
                    </m:r>
                    <m:r>
                      <m:t>μ</m:t>
                    </m:r>
                    <m:r>
                      <m:rPr>
                        <m:sty m:val="p"/>
                      </m:rPr>
                      <m:t>=</m:t>
                    </m:r>
                    <m:sSub>
                      <m:e>
                        <m:r>
                          <m:t>μ</m:t>
                        </m:r>
                      </m:e>
                      <m:sub>
                        <m:r>
                          <m:t>0</m:t>
                        </m:r>
                      </m:sub>
                    </m:sSub>
                  </m:oMath>
                </a14:m>
              </a:p>
              <a:p>
                <a:pPr lvl="0" indent="0" marL="0">
                  <a:buNone/>
                </a:pPr>
                <a14:m>
                  <m:oMath xmlns:m="http://schemas.openxmlformats.org/officeDocument/2006/math">
                    <m:sSub>
                      <m:e>
                        <m:r>
                          <m:t>H</m:t>
                        </m:r>
                      </m:e>
                      <m:sub>
                        <m:r>
                          <m:t>A</m:t>
                        </m:r>
                      </m:sub>
                    </m:sSub>
                    <m:r>
                      <m:rPr>
                        <m:sty m:val="p"/>
                      </m:rPr>
                      <m:t>:</m:t>
                    </m:r>
                    <m:r>
                      <m:t>μ</m:t>
                    </m:r>
                    <m:r>
                      <m:rPr>
                        <m:sty m:val="p"/>
                      </m:rPr>
                      <m:t>&gt;</m:t>
                    </m:r>
                    <m:sSub>
                      <m:e>
                        <m:r>
                          <m:t>μ</m:t>
                        </m:r>
                      </m:e>
                      <m:sub>
                        <m:r>
                          <m:t>0</m:t>
                        </m:r>
                      </m:sub>
                    </m:sSub>
                  </m:oMath>
                </a14:m>
              </a:p>
            </p:txBody>
          </p:sp>
        </mc:Choice>
      </mc:AlternateContent>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One-Tailed t-Test: Example</a:t>
                </a:r>
              </a:p>
              <a:p>
                <a:pPr lvl="0" indent="0">
                  <a:buNone/>
                </a:pPr>
                <a:r>
                  <a:rPr>
                    <a:solidFill>
                      <a:srgbClr val="4758AB"/>
                    </a:solidFill>
                    <a:latin typeface="Courier"/>
                  </a:rPr>
                  <a:t>library</a:t>
                </a:r>
                <a:r>
                  <a:rPr>
                    <a:solidFill>
                      <a:srgbClr val="003B4F"/>
                    </a:solidFill>
                    <a:latin typeface="Courier"/>
                  </a:rPr>
                  <a:t>(tidyverse)</a:t>
                </a:r>
                <a:br/>
                <a:br/>
                <a:r>
                  <a:rPr>
                    <a:solidFill>
                      <a:srgbClr val="4758AB"/>
                    </a:solidFill>
                    <a:latin typeface="Courier"/>
                  </a:rPr>
                  <a:t>set.seed</a:t>
                </a:r>
                <a:r>
                  <a:rPr>
                    <a:solidFill>
                      <a:srgbClr val="003B4F"/>
                    </a:solidFill>
                    <a:latin typeface="Courier"/>
                  </a:rPr>
                  <a:t>(</a:t>
                </a:r>
                <a:r>
                  <a:rPr>
                    <a:solidFill>
                      <a:srgbClr val="AD0000"/>
                    </a:solidFill>
                    <a:latin typeface="Courier"/>
                  </a:rPr>
                  <a:t>29</a:t>
                </a:r>
                <a:r>
                  <a:rPr>
                    <a:solidFill>
                      <a:srgbClr val="003B4F"/>
                    </a:solidFill>
                    <a:latin typeface="Courier"/>
                  </a:rPr>
                  <a:t>)</a:t>
                </a:r>
                <a:br/>
                <a:br/>
                <a:r>
                  <a:rPr>
                    <a:solidFill>
                      <a:srgbClr val="003B4F"/>
                    </a:solidFill>
                    <a:latin typeface="Courier"/>
                  </a:rPr>
                  <a:t>tumor_df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patient_id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20</a:t>
                </a:r>
                <a:r>
                  <a:rPr>
                    <a:solidFill>
                      <a:srgbClr val="003B4F"/>
                    </a:solidFill>
                    <a:latin typeface="Courier"/>
                  </a:rPr>
                  <a:t>,</a:t>
                </a:r>
                <a:br/>
                <a:r>
                  <a:rPr>
                    <a:solidFill>
                      <a:srgbClr val="003B4F"/>
                    </a:solidFill>
                    <a:latin typeface="Courier"/>
                  </a:rPr>
                  <a:t>  </a:t>
                </a:r>
                <a:r>
                  <a:rPr>
                    <a:solidFill>
                      <a:srgbClr val="657422"/>
                    </a:solidFill>
                    <a:latin typeface="Courier"/>
                  </a:rPr>
                  <a:t>tumor_reduction =</a:t>
                </a:r>
                <a:r>
                  <a:rPr>
                    <a:solidFill>
                      <a:srgbClr val="003B4F"/>
                    </a:solidFill>
                    <a:latin typeface="Courier"/>
                  </a:rPr>
                  <a:t> </a:t>
                </a:r>
                <a:r>
                  <a:rPr>
                    <a:solidFill>
                      <a:srgbClr val="4758AB"/>
                    </a:solidFill>
                    <a:latin typeface="Courier"/>
                  </a:rPr>
                  <a:t>c</a:t>
                </a:r>
                <a:r>
                  <a:rPr>
                    <a:solidFill>
                      <a:srgbClr val="003B4F"/>
                    </a:solidFill>
                    <a:latin typeface="Courier"/>
                  </a:rPr>
                  <a:t>(</a:t>
                </a:r>
                <a:br/>
                <a:r>
                  <a:rPr>
                    <a:solidFill>
                      <a:srgbClr val="003B4F"/>
                    </a:solidFill>
                    <a:latin typeface="Courier"/>
                  </a:rPr>
                  <a:t>    </a:t>
                </a:r>
                <a:r>
                  <a:rPr>
                    <a:solidFill>
                      <a:srgbClr val="AD0000"/>
                    </a:solidFill>
                    <a:latin typeface="Courier"/>
                  </a:rPr>
                  <a:t>4.27</a:t>
                </a:r>
                <a:r>
                  <a:rPr>
                    <a:solidFill>
                      <a:srgbClr val="003B4F"/>
                    </a:solidFill>
                    <a:latin typeface="Courier"/>
                  </a:rPr>
                  <a:t>, </a:t>
                </a:r>
                <a:r>
                  <a:rPr>
                    <a:solidFill>
                      <a:srgbClr val="AD0000"/>
                    </a:solidFill>
                    <a:latin typeface="Courier"/>
                  </a:rPr>
                  <a:t>3.70</a:t>
                </a:r>
                <a:r>
                  <a:rPr>
                    <a:solidFill>
                      <a:srgbClr val="003B4F"/>
                    </a:solidFill>
                    <a:latin typeface="Courier"/>
                  </a:rPr>
                  <a:t>, </a:t>
                </a:r>
                <a:r>
                  <a:rPr>
                    <a:solidFill>
                      <a:srgbClr val="AD0000"/>
                    </a:solidFill>
                    <a:latin typeface="Courier"/>
                  </a:rPr>
                  <a:t>5.56</a:t>
                </a:r>
                <a:r>
                  <a:rPr>
                    <a:solidFill>
                      <a:srgbClr val="003B4F"/>
                    </a:solidFill>
                    <a:latin typeface="Courier"/>
                  </a:rPr>
                  <a:t>, </a:t>
                </a:r>
                <a:r>
                  <a:rPr>
                    <a:solidFill>
                      <a:srgbClr val="AD0000"/>
                    </a:solidFill>
                    <a:latin typeface="Courier"/>
                  </a:rPr>
                  <a:t>2.12</a:t>
                </a:r>
                <a:r>
                  <a:rPr>
                    <a:solidFill>
                      <a:srgbClr val="003B4F"/>
                    </a:solidFill>
                    <a:latin typeface="Courier"/>
                  </a:rPr>
                  <a:t>, </a:t>
                </a:r>
                <a:r>
                  <a:rPr>
                    <a:solidFill>
                      <a:srgbClr val="AD0000"/>
                    </a:solidFill>
                    <a:latin typeface="Courier"/>
                  </a:rPr>
                  <a:t>6.85</a:t>
                </a:r>
                <a:r>
                  <a:rPr>
                    <a:solidFill>
                      <a:srgbClr val="003B4F"/>
                    </a:solidFill>
                    <a:latin typeface="Courier"/>
                  </a:rPr>
                  <a:t>,</a:t>
                </a:r>
                <a:br/>
                <a:r>
                  <a:rPr>
                    <a:solidFill>
                      <a:srgbClr val="003B4F"/>
                    </a:solidFill>
                    <a:latin typeface="Courier"/>
                  </a:rPr>
                  <a:t>    </a:t>
                </a:r>
                <a:r>
                  <a:rPr>
                    <a:solidFill>
                      <a:srgbClr val="AD0000"/>
                    </a:solidFill>
                    <a:latin typeface="Courier"/>
                  </a:rPr>
                  <a:t>0.98</a:t>
                </a:r>
                <a:r>
                  <a:rPr>
                    <a:solidFill>
                      <a:srgbClr val="003B4F"/>
                    </a:solidFill>
                    <a:latin typeface="Courier"/>
                  </a:rPr>
                  <a:t>, </a:t>
                </a:r>
                <a:r>
                  <a:rPr>
                    <a:solidFill>
                      <a:srgbClr val="AD0000"/>
                    </a:solidFill>
                    <a:latin typeface="Courier"/>
                  </a:rPr>
                  <a:t>5.13</a:t>
                </a:r>
                <a:r>
                  <a:rPr>
                    <a:solidFill>
                      <a:srgbClr val="003B4F"/>
                    </a:solidFill>
                    <a:latin typeface="Courier"/>
                  </a:rPr>
                  <a:t>, </a:t>
                </a:r>
                <a:r>
                  <a:rPr>
                    <a:solidFill>
                      <a:srgbClr val="AD0000"/>
                    </a:solidFill>
                    <a:latin typeface="Courier"/>
                  </a:rPr>
                  <a:t>3.27</a:t>
                </a:r>
                <a:r>
                  <a:rPr>
                    <a:solidFill>
                      <a:srgbClr val="003B4F"/>
                    </a:solidFill>
                    <a:latin typeface="Courier"/>
                  </a:rPr>
                  <a:t>, </a:t>
                </a:r>
                <a:r>
                  <a:rPr>
                    <a:solidFill>
                      <a:srgbClr val="AD0000"/>
                    </a:solidFill>
                    <a:latin typeface="Courier"/>
                  </a:rPr>
                  <a:t>2.41</a:t>
                </a:r>
                <a:r>
                  <a:rPr>
                    <a:solidFill>
                      <a:srgbClr val="003B4F"/>
                    </a:solidFill>
                    <a:latin typeface="Courier"/>
                  </a:rPr>
                  <a:t>, </a:t>
                </a:r>
                <a:r>
                  <a:rPr>
                    <a:solidFill>
                      <a:srgbClr val="AD0000"/>
                    </a:solidFill>
                    <a:latin typeface="Courier"/>
                  </a:rPr>
                  <a:t>5.99</a:t>
                </a:r>
                <a:r>
                  <a:rPr>
                    <a:solidFill>
                      <a:srgbClr val="003B4F"/>
                    </a:solidFill>
                    <a:latin typeface="Courier"/>
                  </a:rPr>
                  <a:t>,</a:t>
                </a:r>
                <a:br/>
                <a:r>
                  <a:rPr>
                    <a:solidFill>
                      <a:srgbClr val="003B4F"/>
                    </a:solidFill>
                    <a:latin typeface="Courier"/>
                  </a:rPr>
                  <a:t>    </a:t>
                </a:r>
                <a:r>
                  <a:rPr>
                    <a:solidFill>
                      <a:srgbClr val="AD0000"/>
                    </a:solidFill>
                    <a:latin typeface="Courier"/>
                  </a:rPr>
                  <a:t>4.13</a:t>
                </a:r>
                <a:r>
                  <a:rPr>
                    <a:solidFill>
                      <a:srgbClr val="003B4F"/>
                    </a:solidFill>
                    <a:latin typeface="Courier"/>
                  </a:rPr>
                  <a:t>, </a:t>
                </a:r>
                <a:r>
                  <a:rPr>
                    <a:solidFill>
                      <a:srgbClr val="AD0000"/>
                    </a:solidFill>
                    <a:latin typeface="Courier"/>
                  </a:rPr>
                  <a:t>2.98</a:t>
                </a:r>
                <a:r>
                  <a:rPr>
                    <a:solidFill>
                      <a:srgbClr val="003B4F"/>
                    </a:solidFill>
                    <a:latin typeface="Courier"/>
                  </a:rPr>
                  <a:t>, </a:t>
                </a:r>
                <a:r>
                  <a:rPr>
                    <a:solidFill>
                      <a:srgbClr val="AD0000"/>
                    </a:solidFill>
                    <a:latin typeface="Courier"/>
                  </a:rPr>
                  <a:t>1.84</a:t>
                </a:r>
                <a:r>
                  <a:rPr>
                    <a:solidFill>
                      <a:srgbClr val="003B4F"/>
                    </a:solidFill>
                    <a:latin typeface="Courier"/>
                  </a:rPr>
                  <a:t>, </a:t>
                </a:r>
                <a:r>
                  <a:rPr>
                    <a:solidFill>
                      <a:srgbClr val="AD0000"/>
                    </a:solidFill>
                    <a:latin typeface="Courier"/>
                  </a:rPr>
                  <a:t>4.98</a:t>
                </a:r>
                <a:r>
                  <a:rPr>
                    <a:solidFill>
                      <a:srgbClr val="003B4F"/>
                    </a:solidFill>
                    <a:latin typeface="Courier"/>
                  </a:rPr>
                  <a:t>, </a:t>
                </a:r>
                <a:r>
                  <a:rPr>
                    <a:solidFill>
                      <a:srgbClr val="AD0000"/>
                    </a:solidFill>
                    <a:latin typeface="Courier"/>
                  </a:rPr>
                  <a:t>6.70</a:t>
                </a:r>
                <a:r>
                  <a:rPr>
                    <a:solidFill>
                      <a:srgbClr val="003B4F"/>
                    </a:solidFill>
                    <a:latin typeface="Courier"/>
                  </a:rPr>
                  <a:t>,</a:t>
                </a:r>
                <a:br/>
                <a:r>
                  <a:rPr>
                    <a:solidFill>
                      <a:srgbClr val="003B4F"/>
                    </a:solidFill>
                    <a:latin typeface="Courier"/>
                  </a:rPr>
                  <a:t>    </a:t>
                </a:r>
                <a:r>
                  <a:rPr>
                    <a:solidFill>
                      <a:srgbClr val="AD0000"/>
                    </a:solidFill>
                    <a:latin typeface="Courier"/>
                  </a:rPr>
                  <a:t>3.41</a:t>
                </a:r>
                <a:r>
                  <a:rPr>
                    <a:solidFill>
                      <a:srgbClr val="003B4F"/>
                    </a:solidFill>
                    <a:latin typeface="Courier"/>
                  </a:rPr>
                  <a:t>, </a:t>
                </a:r>
                <a:r>
                  <a:rPr>
                    <a:solidFill>
                      <a:srgbClr val="AD0000"/>
                    </a:solidFill>
                    <a:latin typeface="Courier"/>
                  </a:rPr>
                  <a:t>2.27</a:t>
                </a:r>
                <a:r>
                  <a:rPr>
                    <a:solidFill>
                      <a:srgbClr val="003B4F"/>
                    </a:solidFill>
                    <a:latin typeface="Courier"/>
                  </a:rPr>
                  <a:t>, </a:t>
                </a:r>
                <a:r>
                  <a:rPr>
                    <a:solidFill>
                      <a:srgbClr val="AD0000"/>
                    </a:solidFill>
                    <a:latin typeface="Courier"/>
                  </a:rPr>
                  <a:t>5.27</a:t>
                </a:r>
                <a:r>
                  <a:rPr>
                    <a:solidFill>
                      <a:srgbClr val="003B4F"/>
                    </a:solidFill>
                    <a:latin typeface="Courier"/>
                  </a:rPr>
                  <a:t>, </a:t>
                </a:r>
                <a:r>
                  <a:rPr>
                    <a:solidFill>
                      <a:srgbClr val="AD0000"/>
                    </a:solidFill>
                    <a:latin typeface="Courier"/>
                  </a:rPr>
                  <a:t>5.41</a:t>
                </a:r>
                <a:r>
                  <a:rPr>
                    <a:solidFill>
                      <a:srgbClr val="003B4F"/>
                    </a:solidFill>
                    <a:latin typeface="Courier"/>
                  </a:rPr>
                  <a:t>, </a:t>
                </a:r>
                <a:r>
                  <a:rPr>
                    <a:solidFill>
                      <a:srgbClr val="AD0000"/>
                    </a:solidFill>
                    <a:latin typeface="Courier"/>
                  </a:rPr>
                  <a:t>3.55</a:t>
                </a:r>
                <a:br/>
                <a:r>
                  <a:rPr>
                    <a:solidFill>
                      <a:srgbClr val="003B4F"/>
                    </a:solidFill>
                    <a:latin typeface="Courier"/>
                  </a:rPr>
                  <a:t>  )</a:t>
                </a:r>
                <a:br/>
                <a:r>
                  <a:rPr>
                    <a:solidFill>
                      <a:srgbClr val="003B4F"/>
                    </a:solidFill>
                    <a:latin typeface="Courier"/>
                  </a:rPr>
                  <a:t>)</a:t>
                </a:r>
                <a:br/>
                <a:br/>
                <a:r>
                  <a:rPr>
                    <a:solidFill>
                      <a:srgbClr val="4758AB"/>
                    </a:solidFill>
                    <a:latin typeface="Courier"/>
                  </a:rPr>
                  <a:t>head</a:t>
                </a:r>
                <a:r>
                  <a:rPr>
                    <a:solidFill>
                      <a:srgbClr val="003B4F"/>
                    </a:solidFill>
                    <a:latin typeface="Courier"/>
                  </a:rPr>
                  <a:t>(tumor_df, </a:t>
                </a:r>
                <a:r>
                  <a:rPr>
                    <a:solidFill>
                      <a:srgbClr val="AD0000"/>
                    </a:solidFill>
                    <a:latin typeface="Courier"/>
                  </a:rPr>
                  <a:t>5</a:t>
                </a:r>
                <a:r>
                  <a:rPr>
                    <a:solidFill>
                      <a:srgbClr val="003B4F"/>
                    </a:solidFill>
                    <a:latin typeface="Courier"/>
                  </a:rPr>
                  <a:t>)</a:t>
                </a:r>
              </a:p>
              <a:p>
                <a:pPr lvl="0" indent="0">
                  <a:buNone/>
                </a:pPr>
                <a:r>
                  <a:rPr>
                    <a:latin typeface="Courier"/>
                  </a:rPr>
                  <a:t># A tibble: 5 × 2
  patient_id tumor_reduction
       &lt;int&gt;           &lt;dbl&gt;
1          1            4.27
2          2            3.7 
3          3            5.56
4          4            2.12
5          5            6.85</a:t>
                </a:r>
              </a:p>
              <a:p>
                <a:pPr lvl="0" indent="0" marL="0">
                  <a:buNone/>
                </a:pPr>
                <a:r>
                  <a:rPr/>
                  <a:t>Perform One-Sample t Test</a:t>
                </a:r>
              </a:p>
              <a:p>
                <a:pPr lvl="0" indent="0">
                  <a:buNone/>
                </a:pPr>
                <a:r>
                  <a:rPr>
                    <a:solidFill>
                      <a:srgbClr val="003B4F"/>
                    </a:solidFill>
                    <a:latin typeface="Courier"/>
                  </a:rPr>
                  <a:t>t_result &lt;- </a:t>
                </a:r>
                <a:r>
                  <a:rPr>
                    <a:solidFill>
                      <a:srgbClr val="4758AB"/>
                    </a:solidFill>
                    <a:latin typeface="Courier"/>
                  </a:rPr>
                  <a:t>t.test</a:t>
                </a:r>
                <a:r>
                  <a:rPr>
                    <a:solidFill>
                      <a:srgbClr val="003B4F"/>
                    </a:solidFill>
                    <a:latin typeface="Courier"/>
                  </a:rPr>
                  <a:t>(</a:t>
                </a:r>
                <a:br/>
                <a:r>
                  <a:rPr>
                    <a:solidFill>
                      <a:srgbClr val="003B4F"/>
                    </a:solidFill>
                    <a:latin typeface="Courier"/>
                  </a:rPr>
                  <a:t>  tumor_df</a:t>
                </a:r>
                <a:r>
                  <a:rPr>
                    <a:solidFill>
                      <a:srgbClr val="5E5E5E"/>
                    </a:solidFill>
                    <a:latin typeface="Courier"/>
                  </a:rPr>
                  <a:t>$</a:t>
                </a:r>
                <a:r>
                  <a:rPr>
                    <a:solidFill>
                      <a:srgbClr val="003B4F"/>
                    </a:solidFill>
                    <a:latin typeface="Courier"/>
                  </a:rPr>
                  <a:t>tumor_reduction,</a:t>
                </a:r>
                <a:br/>
                <a:r>
                  <a:rPr>
                    <a:solidFill>
                      <a:srgbClr val="003B4F"/>
                    </a:solidFill>
                    <a:latin typeface="Courier"/>
                  </a:rPr>
                  <a:t>  </a:t>
                </a:r>
                <a:r>
                  <a:rPr>
                    <a:solidFill>
                      <a:srgbClr val="657422"/>
                    </a:solidFill>
                    <a:latin typeface="Courier"/>
                  </a:rPr>
                  <a:t>mu =</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"greater"</a:t>
                </a:r>
                <a:br/>
                <a:r>
                  <a:rPr>
                    <a:solidFill>
                      <a:srgbClr val="003B4F"/>
                    </a:solidFill>
                    <a:latin typeface="Courier"/>
                  </a:rPr>
                  <a:t>)</a:t>
                </a:r>
                <a:br/>
                <a:br/>
                <a:r>
                  <a:rPr>
                    <a:solidFill>
                      <a:srgbClr val="003B4F"/>
                    </a:solidFill>
                    <a:latin typeface="Courier"/>
                  </a:rPr>
                  <a:t>t_result</a:t>
                </a:r>
              </a:p>
              <a:p>
                <a:pPr lvl="0" indent="0">
                  <a:buNone/>
                </a:pPr>
                <a:r>
                  <a:rPr>
                    <a:latin typeface="Courier"/>
                  </a:rPr>
                  <a:t>
    One Sample t-test
data:  tumor_df$tumor_reduction
t = 10.845, df = 19, p-value = 7.011e-10
alternative hypothesis: true mean is greater than 0
95 percent confidence interval:
 3.396723      Inf
sample estimates:
mean of x 
    4.041 </a:t>
                </a:r>
              </a:p>
              <a:p>
                <a:pPr lvl="0" indent="0" marL="0">
                  <a:buNone/>
                </a:pPr>
                <a:r>
                  <a:rPr b="1"/>
                  <a:t>Code Explanation</a:t>
                </a:r>
              </a:p>
              <a:p>
                <a:pPr lvl="0"/>
                <a:r>
                  <a:rPr>
                    <a:latin typeface="Courier"/>
                  </a:rPr>
                  <a:t>t.test()</a:t>
                </a:r>
                <a:r>
                  <a:rPr/>
                  <a:t> : performs a one-sample t test</a:t>
                </a:r>
              </a:p>
              <a:p>
                <a:pPr lvl="0"/>
                <a:r>
                  <a:rPr>
                    <a:latin typeface="Courier"/>
                  </a:rPr>
                  <a:t>tumor_df$tumor_reduction</a:t>
                </a:r>
                <a:r>
                  <a:rPr/>
                  <a:t> : supplies the observed tumor reduction values</a:t>
                </a:r>
              </a:p>
              <a:p>
                <a:pPr lvl="0"/>
                <a:r>
                  <a:rPr>
                    <a:latin typeface="Courier"/>
                  </a:rPr>
                  <a:t>mu = 0</a:t>
                </a:r>
                <a:r>
                  <a:rPr/>
                  <a:t> : defines the null hypothesis benchmark:</a:t>
                </a:r>
                <a14:m>
                  <m:oMath xmlns:m="http://schemas.openxmlformats.org/officeDocument/2006/math">
                    <m:sSub>
                      <m:e>
                        <m:r>
                          <m:t>H</m:t>
                        </m:r>
                      </m:e>
                      <m:sub>
                        <m:r>
                          <m:t>0</m:t>
                        </m:r>
                      </m:sub>
                    </m:sSub>
                    <m:r>
                      <m:rPr>
                        <m:sty m:val="p"/>
                      </m:rPr>
                      <m:t>:</m:t>
                    </m:r>
                    <m:r>
                      <m:t>μ</m:t>
                    </m:r>
                    <m:r>
                      <m:rPr>
                        <m:sty m:val="p"/>
                      </m:rPr>
                      <m:t>=</m:t>
                    </m:r>
                    <m:r>
                      <m:t>0</m:t>
                    </m:r>
                  </m:oMath>
                </a14:m>
              </a:p>
              <a:p>
                <a:pPr lvl="0"/>
                <a:r>
                  <a:rPr>
                    <a:latin typeface="Courier"/>
                  </a:rPr>
                  <a:t>alternative = "greater"</a:t>
                </a:r>
                <a:r>
                  <a:rPr/>
                  <a:t> : specifies a right-tailed test:</a:t>
                </a:r>
                <a14:m>
                  <m:oMath xmlns:m="http://schemas.openxmlformats.org/officeDocument/2006/math">
                    <m:sSub>
                      <m:e>
                        <m:r>
                          <m:t>H</m:t>
                        </m:r>
                      </m:e>
                      <m:sub>
                        <m:r>
                          <m:t>A</m:t>
                        </m:r>
                      </m:sub>
                    </m:sSub>
                    <m:r>
                      <m:rPr>
                        <m:sty m:val="p"/>
                      </m:rPr>
                      <m:t>:</m:t>
                    </m:r>
                    <m:r>
                      <m:t>μ</m:t>
                    </m:r>
                    <m:r>
                      <m:rPr>
                        <m:sty m:val="p"/>
                      </m:rPr>
                      <m:t>&gt;</m:t>
                    </m:r>
                    <m:r>
                      <m:t>0</m:t>
                    </m:r>
                  </m:oMath>
                </a14:m>
              </a:p>
              <a:p>
                <a:pPr lvl="0"/>
                <a:r>
                  <a:rPr/>
                  <a:t>p-value is calculated as the area to the right of the observed t-statistic in the t distribution</a:t>
                </a:r>
              </a:p>
              <a:p>
                <a:pPr lvl="0"/>
                <a:r>
                  <a:rPr/>
                  <a:t>t_result stores the test results, including the t-statistic, degrees of freedom, p-value, confidence interval, and sample mean</a:t>
                </a:r>
              </a:p>
            </p:txBody>
          </p:sp>
        </mc:Choice>
      </mc:AlternateContent>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One-Tailed t-Test: Example</a:t>
                </a:r>
              </a:p>
              <a:p>
                <a:pPr lvl="0" indent="0">
                  <a:buNone/>
                </a:pPr>
                <a:r>
                  <a:rPr>
                    <a:solidFill>
                      <a:srgbClr val="4758AB"/>
                    </a:solidFill>
                    <a:latin typeface="Courier"/>
                  </a:rPr>
                  <a:t>library</a:t>
                </a:r>
                <a:r>
                  <a:rPr>
                    <a:solidFill>
                      <a:srgbClr val="003B4F"/>
                    </a:solidFill>
                    <a:latin typeface="Courier"/>
                  </a:rPr>
                  <a:t>(tidyverse)</a:t>
                </a:r>
                <a:br/>
                <a:br/>
                <a:r>
                  <a:rPr>
                    <a:solidFill>
                      <a:srgbClr val="4758AB"/>
                    </a:solidFill>
                    <a:latin typeface="Courier"/>
                  </a:rPr>
                  <a:t>set.seed</a:t>
                </a:r>
                <a:r>
                  <a:rPr>
                    <a:solidFill>
                      <a:srgbClr val="003B4F"/>
                    </a:solidFill>
                    <a:latin typeface="Courier"/>
                  </a:rPr>
                  <a:t>(</a:t>
                </a:r>
                <a:r>
                  <a:rPr>
                    <a:solidFill>
                      <a:srgbClr val="AD0000"/>
                    </a:solidFill>
                    <a:latin typeface="Courier"/>
                  </a:rPr>
                  <a:t>29</a:t>
                </a:r>
                <a:r>
                  <a:rPr>
                    <a:solidFill>
                      <a:srgbClr val="003B4F"/>
                    </a:solidFill>
                    <a:latin typeface="Courier"/>
                  </a:rPr>
                  <a:t>)</a:t>
                </a:r>
                <a:br/>
                <a:br/>
                <a:r>
                  <a:rPr>
                    <a:solidFill>
                      <a:srgbClr val="003B4F"/>
                    </a:solidFill>
                    <a:latin typeface="Courier"/>
                  </a:rPr>
                  <a:t>tumor_df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patient_id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20</a:t>
                </a:r>
                <a:r>
                  <a:rPr>
                    <a:solidFill>
                      <a:srgbClr val="003B4F"/>
                    </a:solidFill>
                    <a:latin typeface="Courier"/>
                  </a:rPr>
                  <a:t>,</a:t>
                </a:r>
                <a:br/>
                <a:r>
                  <a:rPr>
                    <a:solidFill>
                      <a:srgbClr val="003B4F"/>
                    </a:solidFill>
                    <a:latin typeface="Courier"/>
                  </a:rPr>
                  <a:t>  </a:t>
                </a:r>
                <a:r>
                  <a:rPr>
                    <a:solidFill>
                      <a:srgbClr val="657422"/>
                    </a:solidFill>
                    <a:latin typeface="Courier"/>
                  </a:rPr>
                  <a:t>tumor_reduction =</a:t>
                </a:r>
                <a:r>
                  <a:rPr>
                    <a:solidFill>
                      <a:srgbClr val="003B4F"/>
                    </a:solidFill>
                    <a:latin typeface="Courier"/>
                  </a:rPr>
                  <a:t> </a:t>
                </a:r>
                <a:r>
                  <a:rPr>
                    <a:solidFill>
                      <a:srgbClr val="4758AB"/>
                    </a:solidFill>
                    <a:latin typeface="Courier"/>
                  </a:rPr>
                  <a:t>c</a:t>
                </a:r>
                <a:r>
                  <a:rPr>
                    <a:solidFill>
                      <a:srgbClr val="003B4F"/>
                    </a:solidFill>
                    <a:latin typeface="Courier"/>
                  </a:rPr>
                  <a:t>(</a:t>
                </a:r>
                <a:br/>
                <a:r>
                  <a:rPr>
                    <a:solidFill>
                      <a:srgbClr val="003B4F"/>
                    </a:solidFill>
                    <a:latin typeface="Courier"/>
                  </a:rPr>
                  <a:t>    </a:t>
                </a:r>
                <a:r>
                  <a:rPr>
                    <a:solidFill>
                      <a:srgbClr val="AD0000"/>
                    </a:solidFill>
                    <a:latin typeface="Courier"/>
                  </a:rPr>
                  <a:t>4.27</a:t>
                </a:r>
                <a:r>
                  <a:rPr>
                    <a:solidFill>
                      <a:srgbClr val="003B4F"/>
                    </a:solidFill>
                    <a:latin typeface="Courier"/>
                  </a:rPr>
                  <a:t>, </a:t>
                </a:r>
                <a:r>
                  <a:rPr>
                    <a:solidFill>
                      <a:srgbClr val="AD0000"/>
                    </a:solidFill>
                    <a:latin typeface="Courier"/>
                  </a:rPr>
                  <a:t>3.70</a:t>
                </a:r>
                <a:r>
                  <a:rPr>
                    <a:solidFill>
                      <a:srgbClr val="003B4F"/>
                    </a:solidFill>
                    <a:latin typeface="Courier"/>
                  </a:rPr>
                  <a:t>, </a:t>
                </a:r>
                <a:r>
                  <a:rPr>
                    <a:solidFill>
                      <a:srgbClr val="AD0000"/>
                    </a:solidFill>
                    <a:latin typeface="Courier"/>
                  </a:rPr>
                  <a:t>5.56</a:t>
                </a:r>
                <a:r>
                  <a:rPr>
                    <a:solidFill>
                      <a:srgbClr val="003B4F"/>
                    </a:solidFill>
                    <a:latin typeface="Courier"/>
                  </a:rPr>
                  <a:t>, </a:t>
                </a:r>
                <a:r>
                  <a:rPr>
                    <a:solidFill>
                      <a:srgbClr val="AD0000"/>
                    </a:solidFill>
                    <a:latin typeface="Courier"/>
                  </a:rPr>
                  <a:t>2.12</a:t>
                </a:r>
                <a:r>
                  <a:rPr>
                    <a:solidFill>
                      <a:srgbClr val="003B4F"/>
                    </a:solidFill>
                    <a:latin typeface="Courier"/>
                  </a:rPr>
                  <a:t>, </a:t>
                </a:r>
                <a:r>
                  <a:rPr>
                    <a:solidFill>
                      <a:srgbClr val="AD0000"/>
                    </a:solidFill>
                    <a:latin typeface="Courier"/>
                  </a:rPr>
                  <a:t>6.85</a:t>
                </a:r>
                <a:r>
                  <a:rPr>
                    <a:solidFill>
                      <a:srgbClr val="003B4F"/>
                    </a:solidFill>
                    <a:latin typeface="Courier"/>
                  </a:rPr>
                  <a:t>,</a:t>
                </a:r>
                <a:br/>
                <a:r>
                  <a:rPr>
                    <a:solidFill>
                      <a:srgbClr val="003B4F"/>
                    </a:solidFill>
                    <a:latin typeface="Courier"/>
                  </a:rPr>
                  <a:t>    </a:t>
                </a:r>
                <a:r>
                  <a:rPr>
                    <a:solidFill>
                      <a:srgbClr val="AD0000"/>
                    </a:solidFill>
                    <a:latin typeface="Courier"/>
                  </a:rPr>
                  <a:t>0.98</a:t>
                </a:r>
                <a:r>
                  <a:rPr>
                    <a:solidFill>
                      <a:srgbClr val="003B4F"/>
                    </a:solidFill>
                    <a:latin typeface="Courier"/>
                  </a:rPr>
                  <a:t>, </a:t>
                </a:r>
                <a:r>
                  <a:rPr>
                    <a:solidFill>
                      <a:srgbClr val="AD0000"/>
                    </a:solidFill>
                    <a:latin typeface="Courier"/>
                  </a:rPr>
                  <a:t>5.13</a:t>
                </a:r>
                <a:r>
                  <a:rPr>
                    <a:solidFill>
                      <a:srgbClr val="003B4F"/>
                    </a:solidFill>
                    <a:latin typeface="Courier"/>
                  </a:rPr>
                  <a:t>, </a:t>
                </a:r>
                <a:r>
                  <a:rPr>
                    <a:solidFill>
                      <a:srgbClr val="AD0000"/>
                    </a:solidFill>
                    <a:latin typeface="Courier"/>
                  </a:rPr>
                  <a:t>3.27</a:t>
                </a:r>
                <a:r>
                  <a:rPr>
                    <a:solidFill>
                      <a:srgbClr val="003B4F"/>
                    </a:solidFill>
                    <a:latin typeface="Courier"/>
                  </a:rPr>
                  <a:t>, </a:t>
                </a:r>
                <a:r>
                  <a:rPr>
                    <a:solidFill>
                      <a:srgbClr val="AD0000"/>
                    </a:solidFill>
                    <a:latin typeface="Courier"/>
                  </a:rPr>
                  <a:t>2.41</a:t>
                </a:r>
                <a:r>
                  <a:rPr>
                    <a:solidFill>
                      <a:srgbClr val="003B4F"/>
                    </a:solidFill>
                    <a:latin typeface="Courier"/>
                  </a:rPr>
                  <a:t>, </a:t>
                </a:r>
                <a:r>
                  <a:rPr>
                    <a:solidFill>
                      <a:srgbClr val="AD0000"/>
                    </a:solidFill>
                    <a:latin typeface="Courier"/>
                  </a:rPr>
                  <a:t>5.99</a:t>
                </a:r>
                <a:r>
                  <a:rPr>
                    <a:solidFill>
                      <a:srgbClr val="003B4F"/>
                    </a:solidFill>
                    <a:latin typeface="Courier"/>
                  </a:rPr>
                  <a:t>,</a:t>
                </a:r>
                <a:br/>
                <a:r>
                  <a:rPr>
                    <a:solidFill>
                      <a:srgbClr val="003B4F"/>
                    </a:solidFill>
                    <a:latin typeface="Courier"/>
                  </a:rPr>
                  <a:t>    </a:t>
                </a:r>
                <a:r>
                  <a:rPr>
                    <a:solidFill>
                      <a:srgbClr val="AD0000"/>
                    </a:solidFill>
                    <a:latin typeface="Courier"/>
                  </a:rPr>
                  <a:t>4.13</a:t>
                </a:r>
                <a:r>
                  <a:rPr>
                    <a:solidFill>
                      <a:srgbClr val="003B4F"/>
                    </a:solidFill>
                    <a:latin typeface="Courier"/>
                  </a:rPr>
                  <a:t>, </a:t>
                </a:r>
                <a:r>
                  <a:rPr>
                    <a:solidFill>
                      <a:srgbClr val="AD0000"/>
                    </a:solidFill>
                    <a:latin typeface="Courier"/>
                  </a:rPr>
                  <a:t>2.98</a:t>
                </a:r>
                <a:r>
                  <a:rPr>
                    <a:solidFill>
                      <a:srgbClr val="003B4F"/>
                    </a:solidFill>
                    <a:latin typeface="Courier"/>
                  </a:rPr>
                  <a:t>, </a:t>
                </a:r>
                <a:r>
                  <a:rPr>
                    <a:solidFill>
                      <a:srgbClr val="AD0000"/>
                    </a:solidFill>
                    <a:latin typeface="Courier"/>
                  </a:rPr>
                  <a:t>1.84</a:t>
                </a:r>
                <a:r>
                  <a:rPr>
                    <a:solidFill>
                      <a:srgbClr val="003B4F"/>
                    </a:solidFill>
                    <a:latin typeface="Courier"/>
                  </a:rPr>
                  <a:t>, </a:t>
                </a:r>
                <a:r>
                  <a:rPr>
                    <a:solidFill>
                      <a:srgbClr val="AD0000"/>
                    </a:solidFill>
                    <a:latin typeface="Courier"/>
                  </a:rPr>
                  <a:t>4.98</a:t>
                </a:r>
                <a:r>
                  <a:rPr>
                    <a:solidFill>
                      <a:srgbClr val="003B4F"/>
                    </a:solidFill>
                    <a:latin typeface="Courier"/>
                  </a:rPr>
                  <a:t>, </a:t>
                </a:r>
                <a:r>
                  <a:rPr>
                    <a:solidFill>
                      <a:srgbClr val="AD0000"/>
                    </a:solidFill>
                    <a:latin typeface="Courier"/>
                  </a:rPr>
                  <a:t>6.70</a:t>
                </a:r>
                <a:r>
                  <a:rPr>
                    <a:solidFill>
                      <a:srgbClr val="003B4F"/>
                    </a:solidFill>
                    <a:latin typeface="Courier"/>
                  </a:rPr>
                  <a:t>,</a:t>
                </a:r>
                <a:br/>
                <a:r>
                  <a:rPr>
                    <a:solidFill>
                      <a:srgbClr val="003B4F"/>
                    </a:solidFill>
                    <a:latin typeface="Courier"/>
                  </a:rPr>
                  <a:t>    </a:t>
                </a:r>
                <a:r>
                  <a:rPr>
                    <a:solidFill>
                      <a:srgbClr val="AD0000"/>
                    </a:solidFill>
                    <a:latin typeface="Courier"/>
                  </a:rPr>
                  <a:t>3.41</a:t>
                </a:r>
                <a:r>
                  <a:rPr>
                    <a:solidFill>
                      <a:srgbClr val="003B4F"/>
                    </a:solidFill>
                    <a:latin typeface="Courier"/>
                  </a:rPr>
                  <a:t>, </a:t>
                </a:r>
                <a:r>
                  <a:rPr>
                    <a:solidFill>
                      <a:srgbClr val="AD0000"/>
                    </a:solidFill>
                    <a:latin typeface="Courier"/>
                  </a:rPr>
                  <a:t>2.27</a:t>
                </a:r>
                <a:r>
                  <a:rPr>
                    <a:solidFill>
                      <a:srgbClr val="003B4F"/>
                    </a:solidFill>
                    <a:latin typeface="Courier"/>
                  </a:rPr>
                  <a:t>, </a:t>
                </a:r>
                <a:r>
                  <a:rPr>
                    <a:solidFill>
                      <a:srgbClr val="AD0000"/>
                    </a:solidFill>
                    <a:latin typeface="Courier"/>
                  </a:rPr>
                  <a:t>5.27</a:t>
                </a:r>
                <a:r>
                  <a:rPr>
                    <a:solidFill>
                      <a:srgbClr val="003B4F"/>
                    </a:solidFill>
                    <a:latin typeface="Courier"/>
                  </a:rPr>
                  <a:t>, </a:t>
                </a:r>
                <a:r>
                  <a:rPr>
                    <a:solidFill>
                      <a:srgbClr val="AD0000"/>
                    </a:solidFill>
                    <a:latin typeface="Courier"/>
                  </a:rPr>
                  <a:t>5.41</a:t>
                </a:r>
                <a:r>
                  <a:rPr>
                    <a:solidFill>
                      <a:srgbClr val="003B4F"/>
                    </a:solidFill>
                    <a:latin typeface="Courier"/>
                  </a:rPr>
                  <a:t>, </a:t>
                </a:r>
                <a:r>
                  <a:rPr>
                    <a:solidFill>
                      <a:srgbClr val="AD0000"/>
                    </a:solidFill>
                    <a:latin typeface="Courier"/>
                  </a:rPr>
                  <a:t>3.55</a:t>
                </a:r>
                <a:br/>
                <a:r>
                  <a:rPr>
                    <a:solidFill>
                      <a:srgbClr val="003B4F"/>
                    </a:solidFill>
                    <a:latin typeface="Courier"/>
                  </a:rPr>
                  <a:t>  )</a:t>
                </a:r>
                <a:br/>
                <a:r>
                  <a:rPr>
                    <a:solidFill>
                      <a:srgbClr val="003B4F"/>
                    </a:solidFill>
                    <a:latin typeface="Courier"/>
                  </a:rPr>
                  <a:t>)</a:t>
                </a:r>
                <a:br/>
                <a:br/>
                <a:r>
                  <a:rPr>
                    <a:solidFill>
                      <a:srgbClr val="4758AB"/>
                    </a:solidFill>
                    <a:latin typeface="Courier"/>
                  </a:rPr>
                  <a:t>head</a:t>
                </a:r>
                <a:r>
                  <a:rPr>
                    <a:solidFill>
                      <a:srgbClr val="003B4F"/>
                    </a:solidFill>
                    <a:latin typeface="Courier"/>
                  </a:rPr>
                  <a:t>(tumor_df, </a:t>
                </a:r>
                <a:r>
                  <a:rPr>
                    <a:solidFill>
                      <a:srgbClr val="AD0000"/>
                    </a:solidFill>
                    <a:latin typeface="Courier"/>
                  </a:rPr>
                  <a:t>5</a:t>
                </a:r>
                <a:r>
                  <a:rPr>
                    <a:solidFill>
                      <a:srgbClr val="003B4F"/>
                    </a:solidFill>
                    <a:latin typeface="Courier"/>
                  </a:rPr>
                  <a:t>)</a:t>
                </a:r>
              </a:p>
              <a:p>
                <a:pPr lvl="0" indent="0">
                  <a:buNone/>
                </a:pPr>
                <a:r>
                  <a:rPr>
                    <a:latin typeface="Courier"/>
                  </a:rPr>
                  <a:t># A tibble: 5 × 2
  patient_id tumor_reduction
       &lt;int&gt;           &lt;dbl&gt;
1          1            4.27
2          2            3.7 
3          3            5.56
4          4            2.12
5          5            6.85</a:t>
                </a:r>
              </a:p>
              <a:p>
                <a:pPr lvl="0" indent="0" marL="0">
                  <a:buNone/>
                </a:pPr>
                <a:r>
                  <a:rPr/>
                  <a:t>Perform One-Sample t Test</a:t>
                </a:r>
              </a:p>
              <a:p>
                <a:pPr lvl="0" indent="0">
                  <a:buNone/>
                </a:pPr>
                <a:r>
                  <a:rPr>
                    <a:solidFill>
                      <a:srgbClr val="003B4F"/>
                    </a:solidFill>
                    <a:latin typeface="Courier"/>
                  </a:rPr>
                  <a:t>t_result &lt;- </a:t>
                </a:r>
                <a:r>
                  <a:rPr>
                    <a:solidFill>
                      <a:srgbClr val="4758AB"/>
                    </a:solidFill>
                    <a:latin typeface="Courier"/>
                  </a:rPr>
                  <a:t>t.test</a:t>
                </a:r>
                <a:r>
                  <a:rPr>
                    <a:solidFill>
                      <a:srgbClr val="003B4F"/>
                    </a:solidFill>
                    <a:latin typeface="Courier"/>
                  </a:rPr>
                  <a:t>(</a:t>
                </a:r>
                <a:br/>
                <a:r>
                  <a:rPr>
                    <a:solidFill>
                      <a:srgbClr val="003B4F"/>
                    </a:solidFill>
                    <a:latin typeface="Courier"/>
                  </a:rPr>
                  <a:t>  tumor_df</a:t>
                </a:r>
                <a:r>
                  <a:rPr>
                    <a:solidFill>
                      <a:srgbClr val="5E5E5E"/>
                    </a:solidFill>
                    <a:latin typeface="Courier"/>
                  </a:rPr>
                  <a:t>$</a:t>
                </a:r>
                <a:r>
                  <a:rPr>
                    <a:solidFill>
                      <a:srgbClr val="003B4F"/>
                    </a:solidFill>
                    <a:latin typeface="Courier"/>
                  </a:rPr>
                  <a:t>tumor_reduction,</a:t>
                </a:r>
                <a:br/>
                <a:r>
                  <a:rPr>
                    <a:solidFill>
                      <a:srgbClr val="003B4F"/>
                    </a:solidFill>
                    <a:latin typeface="Courier"/>
                  </a:rPr>
                  <a:t>  </a:t>
                </a:r>
                <a:r>
                  <a:rPr>
                    <a:solidFill>
                      <a:srgbClr val="657422"/>
                    </a:solidFill>
                    <a:latin typeface="Courier"/>
                  </a:rPr>
                  <a:t>mu =</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"greater"</a:t>
                </a:r>
                <a:br/>
                <a:r>
                  <a:rPr>
                    <a:solidFill>
                      <a:srgbClr val="003B4F"/>
                    </a:solidFill>
                    <a:latin typeface="Courier"/>
                  </a:rPr>
                  <a:t>)</a:t>
                </a:r>
                <a:br/>
                <a:br/>
                <a:r>
                  <a:rPr>
                    <a:solidFill>
                      <a:srgbClr val="003B4F"/>
                    </a:solidFill>
                    <a:latin typeface="Courier"/>
                  </a:rPr>
                  <a:t>t_result</a:t>
                </a:r>
              </a:p>
              <a:p>
                <a:pPr lvl="0" indent="0">
                  <a:buNone/>
                </a:pPr>
                <a:r>
                  <a:rPr>
                    <a:latin typeface="Courier"/>
                  </a:rPr>
                  <a:t>
    One Sample t-test
data:  tumor_df$tumor_reduction
t = 10.845, df = 19, p-value = 7.011e-10
alternative hypothesis: true mean is greater than 0
95 percent confidence interval:
 3.396723      Inf
sample estimates:
mean of x 
    4.041 </a:t>
                </a:r>
              </a:p>
              <a:p>
                <a:pPr lvl="0" indent="0" marL="0">
                  <a:buNone/>
                </a:pPr>
                <a:r>
                  <a:rPr b="1"/>
                  <a:t>Interpretation</a:t>
                </a:r>
              </a:p>
              <a:p>
                <a:pPr lvl="0"/>
                <a:r>
                  <a:rPr/>
                  <a:t>sample mean tumor reduction is approximately 4.04%</a:t>
                </a:r>
              </a:p>
              <a:p>
                <a:pPr lvl="0"/>
                <a:r>
                  <a:rPr/>
                  <a:t>t-statistic [t = 10.845] observed sample mean is ~ 15.5 estimated standard errors above the benchmark value [null hypothesis] of 0</a:t>
                </a:r>
              </a:p>
              <a:p>
                <a:pPr lvl="0"/>
                <a:r>
                  <a:rPr/>
                  <a:t>positive t-statistic indicates the observed mean is greater than the null hypothesis value</a:t>
                </a:r>
              </a:p>
              <a:p>
                <a:pPr lvl="0"/>
                <a:r>
                  <a:rPr/>
                  <a:t>because the alternative hypothesis is </a:t>
                </a:r>
                <a14:m>
                  <m:oMath xmlns:m="http://schemas.openxmlformats.org/officeDocument/2006/math">
                    <m:sSub>
                      <m:e>
                        <m:r>
                          <m:t>H</m:t>
                        </m:r>
                      </m:e>
                      <m:sub>
                        <m:r>
                          <m:t>A</m:t>
                        </m:r>
                      </m:sub>
                    </m:sSub>
                    <m:r>
                      <m:rPr>
                        <m:sty m:val="p"/>
                      </m:rPr>
                      <m:t>:</m:t>
                    </m:r>
                    <m:r>
                      <m:t>μ</m:t>
                    </m:r>
                    <m:r>
                      <m:rPr>
                        <m:sty m:val="p"/>
                      </m:rPr>
                      <m:t>&gt;</m:t>
                    </m:r>
                    <m:r>
                      <m:t>0</m:t>
                    </m:r>
                  </m:oMath>
                </a14:m>
                <a:r>
                  <a:rPr/>
                  <a:t> , the p-value is calculated using the right tail of the t distribution</a:t>
                </a:r>
              </a:p>
              <a:p>
                <a:pPr lvl="0"/>
                <a:r>
                  <a:rPr/>
                  <a:t>p-value = 7.011e-10 </a:t>
                </a:r>
                <a14:m>
                  <m:oMath xmlns:m="http://schemas.openxmlformats.org/officeDocument/2006/math">
                    <m:r>
                      <m:rPr>
                        <m:sty m:val="p"/>
                      </m:rPr>
                      <m:t>→</m:t>
                    </m:r>
                  </m:oMath>
                </a14:m>
                <a:r>
                  <a:rPr/>
                  <a:t> indicates strong evidence that the population mean tumor reduction is greater than 0</a:t>
                </a:r>
              </a:p>
            </p:txBody>
          </p:sp>
        </mc:Choice>
      </mc:AlternateContent>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One-Tailed t-Test: Example</a:t>
                </a:r>
              </a:p>
              <a:p>
                <a:pPr lvl="0" indent="0" marL="0">
                  <a:buNone/>
                </a:pPr>
              </a:p>
              <a:p>
                <a:pPr lvl="0" indent="0" marL="0">
                  <a:buNone/>
                </a:pPr>
                <a:r>
                  <a:rPr b="1"/>
                  <a:t>Interpretation</a:t>
                </a:r>
              </a:p>
              <a:p>
                <a:pPr lvl="0"/>
                <a:r>
                  <a:rPr/>
                  <a:t>black curve represents the theoretical t distribution under the null hypothesis that the population mean tumor reduction equals 0 dashed vertical line marks the observed t-statistic [t=10.84] calculated from the sample data</a:t>
                </a:r>
              </a:p>
              <a:p>
                <a:pPr lvl="0"/>
                <a:r>
                  <a:rPr/>
                  <a:t>red shaded right-tail region represents the p-value for the one-tailed test </a:t>
                </a:r>
                <a14:m>
                  <m:oMath xmlns:m="http://schemas.openxmlformats.org/officeDocument/2006/math">
                    <m:sSub>
                      <m:e>
                        <m:r>
                          <m:t>H</m:t>
                        </m:r>
                      </m:e>
                      <m:sub>
                        <m:r>
                          <m:t>A</m:t>
                        </m:r>
                      </m:sub>
                    </m:sSub>
                    <m:r>
                      <m:rPr>
                        <m:sty m:val="p"/>
                      </m:rPr>
                      <m:t>:</m:t>
                    </m:r>
                    <m:r>
                      <m:t>μ</m:t>
                    </m:r>
                    <m:r>
                      <m:rPr>
                        <m:sty m:val="p"/>
                      </m:rPr>
                      <m:t>&gt;</m:t>
                    </m:r>
                    <m:r>
                      <m:t>0</m:t>
                    </m:r>
                  </m:oMath>
                </a14:m>
              </a:p>
              <a:p>
                <a:pPr lvl="0"/>
                <a:r>
                  <a:rPr/>
                  <a:t>observed t-statistic is far to the right of the center of the distribution, the shaded probability area is extremely small </a:t>
                </a:r>
                <a14:m>
                  <m:oMath xmlns:m="http://schemas.openxmlformats.org/officeDocument/2006/math">
                    <m:r>
                      <m:rPr>
                        <m:sty m:val="p"/>
                      </m:rPr>
                      <m:t>→</m:t>
                    </m:r>
                  </m:oMath>
                </a14:m>
                <a:r>
                  <a:rPr/>
                  <a:t> indicates that observing a sample mean this large would be very unlikely if the true population mean were actually 0</a:t>
                </a:r>
              </a:p>
              <a:p>
                <a:pPr lvl="0"/>
                <a:r>
                  <a:rPr/>
                  <a:t>small p-value [p: 7.011e-10] provides strong statistical evidence that the population mean tumor reduction is greater than 0</a:t>
                </a:r>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Independent Two-Sample t-Test: Example</a:t>
                </a:r>
              </a:p>
              <a:p>
                <a:pPr lvl="0" indent="0" marL="0">
                  <a:buNone/>
                </a:pPr>
                <a:r>
                  <a:rPr b="1"/>
                  <a:t>Background</a:t>
                </a:r>
              </a:p>
              <a:p>
                <a:pPr lvl="0" indent="0" marL="0">
                  <a:buNone/>
                </a:pPr>
                <a:r>
                  <a:rPr/>
                  <a:t>A clinical hypertension study compares systolic blood pressure between patients receiving Treatment A and Treatment B.</a:t>
                </a:r>
              </a:p>
              <a:p>
                <a:pPr lvl="0" indent="0" marL="0">
                  <a:buNone/>
                </a:pPr>
                <a:r>
                  <a:rPr/>
                  <a:t>Researchers want to determine whether the average blood pressure differs between the two treatment groups.</a:t>
                </a:r>
              </a:p>
              <a:p>
                <a:pPr lvl="0" indent="0" marL="0">
                  <a:buNone/>
                </a:pPr>
                <a:r>
                  <a:rPr/>
                  <a:t>Determine:</a:t>
                </a:r>
              </a:p>
              <a:p>
                <a:pPr lvl="0" indent="0" marL="1270000">
                  <a:buNone/>
                </a:pPr>
                <a:r>
                  <a:rPr sz="2000"/>
                  <a:t>Is mean systolic blood pressure different between Treatment A and Treatment B?</a:t>
                </a:r>
              </a:p>
              <a:p>
                <a:pPr lvl="0" indent="0" marL="0">
                  <a:buNone/>
                </a:pPr>
                <a:r>
                  <a:rPr/>
                  <a:t>Where:</a:t>
                </a:r>
              </a:p>
              <a:p>
                <a:pPr lvl="0" indent="0" marL="0">
                  <a:buNone/>
                </a:pPr>
                <a14:m>
                  <m:oMath xmlns:m="http://schemas.openxmlformats.org/officeDocument/2006/math">
                    <m:sSub>
                      <m:e>
                        <m:r>
                          <m:t>H</m:t>
                        </m:r>
                      </m:e>
                      <m:sub>
                        <m:r>
                          <m:t>0</m:t>
                        </m:r>
                      </m:sub>
                    </m:sSub>
                    <m:r>
                      <m:rPr>
                        <m:sty m:val="p"/>
                      </m:rPr>
                      <m:t>:</m:t>
                    </m:r>
                    <m:sSub>
                      <m:e>
                        <m:r>
                          <m:t>μ</m:t>
                        </m:r>
                      </m:e>
                      <m:sub>
                        <m:r>
                          <m:t>A</m:t>
                        </m:r>
                      </m:sub>
                    </m:sSub>
                    <m:r>
                      <m:rPr>
                        <m:sty m:val="p"/>
                      </m:rPr>
                      <m:t>−</m:t>
                    </m:r>
                    <m:sSub>
                      <m:e>
                        <m:r>
                          <m:t>μ</m:t>
                        </m:r>
                      </m:e>
                      <m:sub>
                        <m:r>
                          <m:t>B</m:t>
                        </m:r>
                      </m:sub>
                    </m:sSub>
                    <m:r>
                      <m:rPr>
                        <m:sty m:val="p"/>
                      </m:rPr>
                      <m:t>=</m:t>
                    </m:r>
                    <m:r>
                      <m:t>0</m:t>
                    </m:r>
                  </m:oMath>
                </a14:m>
              </a:p>
              <a:p>
                <a:pPr lvl="0" indent="0" marL="0">
                  <a:buNone/>
                </a:pPr>
                <a14:m>
                  <m:oMath xmlns:m="http://schemas.openxmlformats.org/officeDocument/2006/math">
                    <m:sSub>
                      <m:e>
                        <m:r>
                          <m:t>H</m:t>
                        </m:r>
                      </m:e>
                      <m:sub>
                        <m:r>
                          <m:t>A</m:t>
                        </m:r>
                      </m:sub>
                    </m:sSub>
                    <m:r>
                      <m:rPr>
                        <m:sty m:val="p"/>
                      </m:rPr>
                      <m:t>:</m:t>
                    </m:r>
                    <m:sSub>
                      <m:e>
                        <m:r>
                          <m:t>μ</m:t>
                        </m:r>
                      </m:e>
                      <m:sub>
                        <m:r>
                          <m:t>A</m:t>
                        </m:r>
                      </m:sub>
                    </m:sSub>
                    <m:r>
                      <m:rPr>
                        <m:sty m:val="p"/>
                      </m:rPr>
                      <m:t>−</m:t>
                    </m:r>
                    <m:sSub>
                      <m:e>
                        <m:r>
                          <m:t>μ</m:t>
                        </m:r>
                      </m:e>
                      <m:sub>
                        <m:r>
                          <m:t>B</m:t>
                        </m:r>
                      </m:sub>
                    </m:sSub>
                    <m:r>
                      <m:rPr>
                        <m:sty m:val="p"/>
                      </m:rPr>
                      <m:t>≠</m:t>
                    </m:r>
                    <m:r>
                      <m:t>0</m:t>
                    </m:r>
                  </m:oMath>
                </a14:m>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Independent Two-Sample t-Test: Example</a:t>
                </a:r>
              </a:p>
              <a:p>
                <a:pPr lvl="0" indent="0">
                  <a:buNone/>
                </a:pPr>
                <a:r>
                  <a:rPr>
                    <a:solidFill>
                      <a:srgbClr val="4758AB"/>
                    </a:solidFill>
                    <a:latin typeface="Courier"/>
                  </a:rPr>
                  <a:t>library</a:t>
                </a:r>
                <a:r>
                  <a:rPr>
                    <a:solidFill>
                      <a:srgbClr val="003B4F"/>
                    </a:solidFill>
                    <a:latin typeface="Courier"/>
                  </a:rPr>
                  <a:t>(tidyverse)</a:t>
                </a:r>
                <a:br/>
                <a:br/>
                <a:r>
                  <a:rPr>
                    <a:solidFill>
                      <a:srgbClr val="4758AB"/>
                    </a:solidFill>
                    <a:latin typeface="Courier"/>
                  </a:rPr>
                  <a:t>set.seed</a:t>
                </a:r>
                <a:r>
                  <a:rPr>
                    <a:solidFill>
                      <a:srgbClr val="003B4F"/>
                    </a:solidFill>
                    <a:latin typeface="Courier"/>
                  </a:rPr>
                  <a:t>(</a:t>
                </a:r>
                <a:r>
                  <a:rPr>
                    <a:solidFill>
                      <a:srgbClr val="AD0000"/>
                    </a:solidFill>
                    <a:latin typeface="Courier"/>
                  </a:rPr>
                  <a:t>29</a:t>
                </a:r>
                <a:r>
                  <a:rPr>
                    <a:solidFill>
                      <a:srgbClr val="003B4F"/>
                    </a:solidFill>
                    <a:latin typeface="Courier"/>
                  </a:rPr>
                  <a:t>)</a:t>
                </a:r>
                <a:br/>
                <a:br/>
                <a:r>
                  <a:rPr>
                    <a:solidFill>
                      <a:srgbClr val="003B4F"/>
                    </a:solidFill>
                    <a:latin typeface="Courier"/>
                  </a:rPr>
                  <a:t>bp_df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treatment =</a:t>
                </a:r>
                <a:r>
                  <a:rPr>
                    <a:solidFill>
                      <a:srgbClr val="003B4F"/>
                    </a:solidFill>
                    <a:latin typeface="Courier"/>
                  </a:rPr>
                  <a:t> </a:t>
                </a:r>
                <a:r>
                  <a:rPr>
                    <a:solidFill>
                      <a:srgbClr val="4758AB"/>
                    </a:solidFill>
                    <a:latin typeface="Courier"/>
                  </a:rPr>
                  <a:t>rep</a:t>
                </a:r>
                <a:r>
                  <a:rPr>
                    <a:solidFill>
                      <a:srgbClr val="003B4F"/>
                    </a:solidFill>
                    <a:latin typeface="Courier"/>
                  </a:rPr>
                  <a:t>(</a:t>
                </a:r>
                <a:r>
                  <a:rPr>
                    <a:solidFill>
                      <a:srgbClr val="4758AB"/>
                    </a:solidFill>
                    <a:latin typeface="Courier"/>
                  </a:rPr>
                  <a:t>c</a:t>
                </a:r>
                <a:r>
                  <a:rPr>
                    <a:solidFill>
                      <a:srgbClr val="003B4F"/>
                    </a:solidFill>
                    <a:latin typeface="Courier"/>
                  </a:rPr>
                  <a:t>(</a:t>
                </a:r>
                <a:r>
                  <a:rPr>
                    <a:solidFill>
                      <a:srgbClr val="20794D"/>
                    </a:solidFill>
                    <a:latin typeface="Courier"/>
                  </a:rPr>
                  <a:t>"Treatment A"</a:t>
                </a:r>
                <a:r>
                  <a:rPr>
                    <a:solidFill>
                      <a:srgbClr val="003B4F"/>
                    </a:solidFill>
                    <a:latin typeface="Courier"/>
                  </a:rPr>
                  <a:t>, </a:t>
                </a:r>
                <a:r>
                  <a:rPr>
                    <a:solidFill>
                      <a:srgbClr val="20794D"/>
                    </a:solidFill>
                    <a:latin typeface="Courier"/>
                  </a:rPr>
                  <a:t>"Treatment B"</a:t>
                </a:r>
                <a:r>
                  <a:rPr>
                    <a:solidFill>
                      <a:srgbClr val="003B4F"/>
                    </a:solidFill>
                    <a:latin typeface="Courier"/>
                  </a:rPr>
                  <a:t>), </a:t>
                </a:r>
                <a:r>
                  <a:rPr>
                    <a:solidFill>
                      <a:srgbClr val="657422"/>
                    </a:solidFill>
                    <a:latin typeface="Courier"/>
                  </a:rPr>
                  <a:t>each =</a:t>
                </a:r>
                <a:r>
                  <a:rPr>
                    <a:solidFill>
                      <a:srgbClr val="003B4F"/>
                    </a:solidFill>
                    <a:latin typeface="Courier"/>
                  </a:rPr>
                  <a:t> </a:t>
                </a:r>
                <a:r>
                  <a:rPr>
                    <a:solidFill>
                      <a:srgbClr val="AD0000"/>
                    </a:solidFill>
                    <a:latin typeface="Courier"/>
                  </a:rPr>
                  <a:t>20</a:t>
                </a:r>
                <a:r>
                  <a:rPr>
                    <a:solidFill>
                      <a:srgbClr val="003B4F"/>
                    </a:solidFill>
                    <a:latin typeface="Courier"/>
                  </a:rPr>
                  <a:t>),</a:t>
                </a:r>
                <a:br/>
                <a:r>
                  <a:rPr>
                    <a:solidFill>
                      <a:srgbClr val="003B4F"/>
                    </a:solidFill>
                    <a:latin typeface="Courier"/>
                  </a:rPr>
                  <a:t>  </a:t>
                </a:r>
                <a:r>
                  <a:rPr>
                    <a:solidFill>
                      <a:srgbClr val="657422"/>
                    </a:solidFill>
                    <a:latin typeface="Courier"/>
                  </a:rPr>
                  <a:t>systolic_bp =</a:t>
                </a:r>
                <a:r>
                  <a:rPr>
                    <a:solidFill>
                      <a:srgbClr val="003B4F"/>
                    </a:solidFill>
                    <a:latin typeface="Courier"/>
                  </a:rPr>
                  <a:t> </a:t>
                </a:r>
                <a:r>
                  <a:rPr>
                    <a:solidFill>
                      <a:srgbClr val="4758AB"/>
                    </a:solidFill>
                    <a:latin typeface="Courier"/>
                  </a:rPr>
                  <a:t>c</a:t>
                </a:r>
                <a:r>
                  <a:rPr>
                    <a:solidFill>
                      <a:srgbClr val="003B4F"/>
                    </a:solidFill>
                    <a:latin typeface="Courier"/>
                  </a:rPr>
                  <a:t>(</a:t>
                </a:r>
                <a:br/>
                <a:r>
                  <a:rPr>
                    <a:solidFill>
                      <a:srgbClr val="003B4F"/>
                    </a:solidFill>
                    <a:latin typeface="Courier"/>
                  </a:rPr>
                  <a:t>    </a:t>
                </a:r>
                <a:r>
                  <a:rPr>
                    <a:solidFill>
                      <a:srgbClr val="AD0000"/>
                    </a:solidFill>
                    <a:latin typeface="Courier"/>
                  </a:rPr>
                  <a:t>117.9</a:t>
                </a:r>
                <a:r>
                  <a:rPr>
                    <a:solidFill>
                      <a:srgbClr val="003B4F"/>
                    </a:solidFill>
                    <a:latin typeface="Courier"/>
                  </a:rPr>
                  <a:t>, </a:t>
                </a:r>
                <a:r>
                  <a:rPr>
                    <a:solidFill>
                      <a:srgbClr val="AD0000"/>
                    </a:solidFill>
                    <a:latin typeface="Courier"/>
                  </a:rPr>
                  <a:t>117.3</a:t>
                </a:r>
                <a:r>
                  <a:rPr>
                    <a:solidFill>
                      <a:srgbClr val="003B4F"/>
                    </a:solidFill>
                    <a:latin typeface="Courier"/>
                  </a:rPr>
                  <a:t>, </a:t>
                </a:r>
                <a:r>
                  <a:rPr>
                    <a:solidFill>
                      <a:srgbClr val="AD0000"/>
                    </a:solidFill>
                    <a:latin typeface="Courier"/>
                  </a:rPr>
                  <a:t>109.9</a:t>
                </a:r>
                <a:r>
                  <a:rPr>
                    <a:solidFill>
                      <a:srgbClr val="003B4F"/>
                    </a:solidFill>
                    <a:latin typeface="Courier"/>
                  </a:rPr>
                  <a:t>, </a:t>
                </a:r>
                <a:r>
                  <a:rPr>
                    <a:solidFill>
                      <a:srgbClr val="AD0000"/>
                    </a:solidFill>
                    <a:latin typeface="Courier"/>
                  </a:rPr>
                  <a:t>123.0</a:t>
                </a:r>
                <a:r>
                  <a:rPr>
                    <a:solidFill>
                      <a:srgbClr val="003B4F"/>
                    </a:solidFill>
                    <a:latin typeface="Courier"/>
                  </a:rPr>
                  <a:t>, </a:t>
                </a:r>
                <a:r>
                  <a:rPr>
                    <a:solidFill>
                      <a:srgbClr val="AD0000"/>
                    </a:solidFill>
                    <a:latin typeface="Courier"/>
                  </a:rPr>
                  <a:t>125.5</a:t>
                </a:r>
                <a:r>
                  <a:rPr>
                    <a:solidFill>
                      <a:srgbClr val="003B4F"/>
                    </a:solidFill>
                    <a:latin typeface="Courier"/>
                  </a:rPr>
                  <a:t>,</a:t>
                </a:r>
                <a:br/>
                <a:r>
                  <a:rPr>
                    <a:solidFill>
                      <a:srgbClr val="003B4F"/>
                    </a:solidFill>
                    <a:latin typeface="Courier"/>
                  </a:rPr>
                  <a:t>    </a:t>
                </a:r>
                <a:r>
                  <a:rPr>
                    <a:solidFill>
                      <a:srgbClr val="AD0000"/>
                    </a:solidFill>
                    <a:latin typeface="Courier"/>
                  </a:rPr>
                  <a:t>124.7</a:t>
                </a:r>
                <a:r>
                  <a:rPr>
                    <a:solidFill>
                      <a:srgbClr val="003B4F"/>
                    </a:solidFill>
                    <a:latin typeface="Courier"/>
                  </a:rPr>
                  <a:t>, </a:t>
                </a:r>
                <a:r>
                  <a:rPr>
                    <a:solidFill>
                      <a:srgbClr val="AD0000"/>
                    </a:solidFill>
                    <a:latin typeface="Courier"/>
                  </a:rPr>
                  <a:t>119.8</a:t>
                </a:r>
                <a:r>
                  <a:rPr>
                    <a:solidFill>
                      <a:srgbClr val="003B4F"/>
                    </a:solidFill>
                    <a:latin typeface="Courier"/>
                  </a:rPr>
                  <a:t>, </a:t>
                </a:r>
                <a:r>
                  <a:rPr>
                    <a:solidFill>
                      <a:srgbClr val="AD0000"/>
                    </a:solidFill>
                    <a:latin typeface="Courier"/>
                  </a:rPr>
                  <a:t>124.0</a:t>
                </a:r>
                <a:r>
                  <a:rPr>
                    <a:solidFill>
                      <a:srgbClr val="003B4F"/>
                    </a:solidFill>
                    <a:latin typeface="Courier"/>
                  </a:rPr>
                  <a:t>, </a:t>
                </a:r>
                <a:r>
                  <a:rPr>
                    <a:solidFill>
                      <a:srgbClr val="AD0000"/>
                    </a:solidFill>
                    <a:latin typeface="Courier"/>
                  </a:rPr>
                  <a:t>118.7</a:t>
                </a:r>
                <a:r>
                  <a:rPr>
                    <a:solidFill>
                      <a:srgbClr val="003B4F"/>
                    </a:solidFill>
                    <a:latin typeface="Courier"/>
                  </a:rPr>
                  <a:t>, </a:t>
                </a:r>
                <a:r>
                  <a:rPr>
                    <a:solidFill>
                      <a:srgbClr val="AD0000"/>
                    </a:solidFill>
                    <a:latin typeface="Courier"/>
                  </a:rPr>
                  <a:t>117.2</a:t>
                </a:r>
                <a:r>
                  <a:rPr>
                    <a:solidFill>
                      <a:srgbClr val="003B4F"/>
                    </a:solidFill>
                    <a:latin typeface="Courier"/>
                  </a:rPr>
                  <a:t>,</a:t>
                </a:r>
                <a:br/>
                <a:r>
                  <a:rPr>
                    <a:solidFill>
                      <a:srgbClr val="003B4F"/>
                    </a:solidFill>
                    <a:latin typeface="Courier"/>
                  </a:rPr>
                  <a:t>    </a:t>
                </a:r>
                <a:r>
                  <a:rPr>
                    <a:solidFill>
                      <a:srgbClr val="AD0000"/>
                    </a:solidFill>
                    <a:latin typeface="Courier"/>
                  </a:rPr>
                  <a:t>118.5</a:t>
                </a:r>
                <a:r>
                  <a:rPr>
                    <a:solidFill>
                      <a:srgbClr val="003B4F"/>
                    </a:solidFill>
                    <a:latin typeface="Courier"/>
                  </a:rPr>
                  <a:t>, </a:t>
                </a:r>
                <a:r>
                  <a:rPr>
                    <a:solidFill>
                      <a:srgbClr val="AD0000"/>
                    </a:solidFill>
                    <a:latin typeface="Courier"/>
                  </a:rPr>
                  <a:t>122.1</a:t>
                </a:r>
                <a:r>
                  <a:rPr>
                    <a:solidFill>
                      <a:srgbClr val="003B4F"/>
                    </a:solidFill>
                    <a:latin typeface="Courier"/>
                  </a:rPr>
                  <a:t>, </a:t>
                </a:r>
                <a:r>
                  <a:rPr>
                    <a:solidFill>
                      <a:srgbClr val="AD0000"/>
                    </a:solidFill>
                    <a:latin typeface="Courier"/>
                  </a:rPr>
                  <a:t>119.0</a:t>
                </a:r>
                <a:r>
                  <a:rPr>
                    <a:solidFill>
                      <a:srgbClr val="003B4F"/>
                    </a:solidFill>
                    <a:latin typeface="Courier"/>
                  </a:rPr>
                  <a:t>, </a:t>
                </a:r>
                <a:r>
                  <a:rPr>
                    <a:solidFill>
                      <a:srgbClr val="AD0000"/>
                    </a:solidFill>
                    <a:latin typeface="Courier"/>
                  </a:rPr>
                  <a:t>120.8</a:t>
                </a:r>
                <a:r>
                  <a:rPr>
                    <a:solidFill>
                      <a:srgbClr val="003B4F"/>
                    </a:solidFill>
                    <a:latin typeface="Courier"/>
                  </a:rPr>
                  <a:t>, </a:t>
                </a:r>
                <a:r>
                  <a:rPr>
                    <a:solidFill>
                      <a:srgbClr val="AD0000"/>
                    </a:solidFill>
                    <a:latin typeface="Courier"/>
                  </a:rPr>
                  <a:t>118.9</a:t>
                </a:r>
                <a:r>
                  <a:rPr>
                    <a:solidFill>
                      <a:srgbClr val="003B4F"/>
                    </a:solidFill>
                    <a:latin typeface="Courier"/>
                  </a:rPr>
                  <a:t>,</a:t>
                </a:r>
                <a:br/>
                <a:r>
                  <a:rPr>
                    <a:solidFill>
                      <a:srgbClr val="003B4F"/>
                    </a:solidFill>
                    <a:latin typeface="Courier"/>
                  </a:rPr>
                  <a:t>    </a:t>
                </a:r>
                <a:r>
                  <a:rPr>
                    <a:solidFill>
                      <a:srgbClr val="AD0000"/>
                    </a:solidFill>
                    <a:latin typeface="Courier"/>
                  </a:rPr>
                  <a:t>121.5</a:t>
                </a:r>
                <a:r>
                  <a:rPr>
                    <a:solidFill>
                      <a:srgbClr val="003B4F"/>
                    </a:solidFill>
                    <a:latin typeface="Courier"/>
                  </a:rPr>
                  <a:t>, </a:t>
                </a:r>
                <a:r>
                  <a:rPr>
                    <a:solidFill>
                      <a:srgbClr val="AD0000"/>
                    </a:solidFill>
                    <a:latin typeface="Courier"/>
                  </a:rPr>
                  <a:t>119.4</a:t>
                </a:r>
                <a:r>
                  <a:rPr>
                    <a:solidFill>
                      <a:srgbClr val="003B4F"/>
                    </a:solidFill>
                    <a:latin typeface="Courier"/>
                  </a:rPr>
                  <a:t>, </a:t>
                </a:r>
                <a:r>
                  <a:rPr>
                    <a:solidFill>
                      <a:srgbClr val="AD0000"/>
                    </a:solidFill>
                    <a:latin typeface="Courier"/>
                  </a:rPr>
                  <a:t>122.1</a:t>
                </a:r>
                <a:r>
                  <a:rPr>
                    <a:solidFill>
                      <a:srgbClr val="003B4F"/>
                    </a:solidFill>
                    <a:latin typeface="Courier"/>
                  </a:rPr>
                  <a:t>, </a:t>
                </a:r>
                <a:r>
                  <a:rPr>
                    <a:solidFill>
                      <a:srgbClr val="AD0000"/>
                    </a:solidFill>
                    <a:latin typeface="Courier"/>
                  </a:rPr>
                  <a:t>116.8</a:t>
                </a:r>
                <a:r>
                  <a:rPr>
                    <a:solidFill>
                      <a:srgbClr val="003B4F"/>
                    </a:solidFill>
                    <a:latin typeface="Courier"/>
                  </a:rPr>
                  <a:t>, </a:t>
                </a:r>
                <a:r>
                  <a:rPr>
                    <a:solidFill>
                      <a:srgbClr val="AD0000"/>
                    </a:solidFill>
                    <a:latin typeface="Courier"/>
                  </a:rPr>
                  <a:t>120.6</a:t>
                </a:r>
                <a:r>
                  <a:rPr>
                    <a:solidFill>
                      <a:srgbClr val="003B4F"/>
                    </a:solidFill>
                    <a:latin typeface="Courier"/>
                  </a:rPr>
                  <a:t>,</a:t>
                </a:r>
                <a:br/>
                <a:br/>
                <a:r>
                  <a:rPr>
                    <a:solidFill>
                      <a:srgbClr val="003B4F"/>
                    </a:solidFill>
                    <a:latin typeface="Courier"/>
                  </a:rPr>
                  <a:t>    </a:t>
                </a:r>
                <a:r>
                  <a:rPr>
                    <a:solidFill>
                      <a:srgbClr val="AD0000"/>
                    </a:solidFill>
                    <a:latin typeface="Courier"/>
                  </a:rPr>
                  <a:t>135.9</a:t>
                </a:r>
                <a:r>
                  <a:rPr>
                    <a:solidFill>
                      <a:srgbClr val="003B4F"/>
                    </a:solidFill>
                    <a:latin typeface="Courier"/>
                  </a:rPr>
                  <a:t>, </a:t>
                </a:r>
                <a:r>
                  <a:rPr>
                    <a:solidFill>
                      <a:srgbClr val="AD0000"/>
                    </a:solidFill>
                    <a:latin typeface="Courier"/>
                  </a:rPr>
                  <a:t>129.2</a:t>
                </a:r>
                <a:r>
                  <a:rPr>
                    <a:solidFill>
                      <a:srgbClr val="003B4F"/>
                    </a:solidFill>
                    <a:latin typeface="Courier"/>
                  </a:rPr>
                  <a:t>, </a:t>
                </a:r>
                <a:r>
                  <a:rPr>
                    <a:solidFill>
                      <a:srgbClr val="AD0000"/>
                    </a:solidFill>
                    <a:latin typeface="Courier"/>
                  </a:rPr>
                  <a:t>131.9</a:t>
                </a:r>
                <a:r>
                  <a:rPr>
                    <a:solidFill>
                      <a:srgbClr val="003B4F"/>
                    </a:solidFill>
                    <a:latin typeface="Courier"/>
                  </a:rPr>
                  <a:t>, </a:t>
                </a:r>
                <a:r>
                  <a:rPr>
                    <a:solidFill>
                      <a:srgbClr val="AD0000"/>
                    </a:solidFill>
                    <a:latin typeface="Courier"/>
                  </a:rPr>
                  <a:t>129.9</a:t>
                </a:r>
                <a:r>
                  <a:rPr>
                    <a:solidFill>
                      <a:srgbClr val="003B4F"/>
                    </a:solidFill>
                    <a:latin typeface="Courier"/>
                  </a:rPr>
                  <a:t>, </a:t>
                </a:r>
                <a:r>
                  <a:rPr>
                    <a:solidFill>
                      <a:srgbClr val="AD0000"/>
                    </a:solidFill>
                    <a:latin typeface="Courier"/>
                  </a:rPr>
                  <a:t>131.2</a:t>
                </a:r>
                <a:r>
                  <a:rPr>
                    <a:solidFill>
                      <a:srgbClr val="003B4F"/>
                    </a:solidFill>
                    <a:latin typeface="Courier"/>
                  </a:rPr>
                  <a:t>,</a:t>
                </a:r>
                <a:br/>
                <a:r>
                  <a:rPr>
                    <a:solidFill>
                      <a:srgbClr val="003B4F"/>
                    </a:solidFill>
                    <a:latin typeface="Courier"/>
                  </a:rPr>
                  <a:t>    </a:t>
                </a:r>
                <a:r>
                  <a:rPr>
                    <a:solidFill>
                      <a:srgbClr val="AD0000"/>
                    </a:solidFill>
                    <a:latin typeface="Courier"/>
                  </a:rPr>
                  <a:t>129.3</a:t>
                </a:r>
                <a:r>
                  <a:rPr>
                    <a:solidFill>
                      <a:srgbClr val="003B4F"/>
                    </a:solidFill>
                    <a:latin typeface="Courier"/>
                  </a:rPr>
                  <a:t>, </a:t>
                </a:r>
                <a:r>
                  <a:rPr>
                    <a:solidFill>
                      <a:srgbClr val="AD0000"/>
                    </a:solidFill>
                    <a:latin typeface="Courier"/>
                  </a:rPr>
                  <a:t>131.8</a:t>
                </a:r>
                <a:r>
                  <a:rPr>
                    <a:solidFill>
                      <a:srgbClr val="003B4F"/>
                    </a:solidFill>
                    <a:latin typeface="Courier"/>
                  </a:rPr>
                  <a:t>, </a:t>
                </a:r>
                <a:r>
                  <a:rPr>
                    <a:solidFill>
                      <a:srgbClr val="AD0000"/>
                    </a:solidFill>
                    <a:latin typeface="Courier"/>
                  </a:rPr>
                  <a:t>127.3</a:t>
                </a:r>
                <a:r>
                  <a:rPr>
                    <a:solidFill>
                      <a:srgbClr val="003B4F"/>
                    </a:solidFill>
                    <a:latin typeface="Courier"/>
                  </a:rPr>
                  <a:t>, </a:t>
                </a:r>
                <a:r>
                  <a:rPr>
                    <a:solidFill>
                      <a:srgbClr val="AD0000"/>
                    </a:solidFill>
                    <a:latin typeface="Courier"/>
                  </a:rPr>
                  <a:t>129.5</a:t>
                </a:r>
                <a:r>
                  <a:rPr>
                    <a:solidFill>
                      <a:srgbClr val="003B4F"/>
                    </a:solidFill>
                    <a:latin typeface="Courier"/>
                  </a:rPr>
                  <a:t>, </a:t>
                </a:r>
                <a:r>
                  <a:rPr>
                    <a:solidFill>
                      <a:srgbClr val="AD0000"/>
                    </a:solidFill>
                    <a:latin typeface="Courier"/>
                  </a:rPr>
                  <a:t>128.8</a:t>
                </a:r>
                <a:r>
                  <a:rPr>
                    <a:solidFill>
                      <a:srgbClr val="003B4F"/>
                    </a:solidFill>
                    <a:latin typeface="Courier"/>
                  </a:rPr>
                  <a:t>,</a:t>
                </a:r>
                <a:br/>
                <a:r>
                  <a:rPr>
                    <a:solidFill>
                      <a:srgbClr val="003B4F"/>
                    </a:solidFill>
                    <a:latin typeface="Courier"/>
                  </a:rPr>
                  <a:t>    </a:t>
                </a:r>
                <a:r>
                  <a:rPr>
                    <a:solidFill>
                      <a:srgbClr val="AD0000"/>
                    </a:solidFill>
                    <a:latin typeface="Courier"/>
                  </a:rPr>
                  <a:t>138.2</a:t>
                </a:r>
                <a:r>
                  <a:rPr>
                    <a:solidFill>
                      <a:srgbClr val="003B4F"/>
                    </a:solidFill>
                    <a:latin typeface="Courier"/>
                  </a:rPr>
                  <a:t>, </a:t>
                </a:r>
                <a:r>
                  <a:rPr>
                    <a:solidFill>
                      <a:srgbClr val="AD0000"/>
                    </a:solidFill>
                    <a:latin typeface="Courier"/>
                  </a:rPr>
                  <a:t>127.7</a:t>
                </a:r>
                <a:r>
                  <a:rPr>
                    <a:solidFill>
                      <a:srgbClr val="003B4F"/>
                    </a:solidFill>
                    <a:latin typeface="Courier"/>
                  </a:rPr>
                  <a:t>, </a:t>
                </a:r>
                <a:r>
                  <a:rPr>
                    <a:solidFill>
                      <a:srgbClr val="AD0000"/>
                    </a:solidFill>
                    <a:latin typeface="Courier"/>
                  </a:rPr>
                  <a:t>135.9</a:t>
                </a:r>
                <a:r>
                  <a:rPr>
                    <a:solidFill>
                      <a:srgbClr val="003B4F"/>
                    </a:solidFill>
                    <a:latin typeface="Courier"/>
                  </a:rPr>
                  <a:t>, </a:t>
                </a:r>
                <a:r>
                  <a:rPr>
                    <a:solidFill>
                      <a:srgbClr val="AD0000"/>
                    </a:solidFill>
                    <a:latin typeface="Courier"/>
                  </a:rPr>
                  <a:t>127.9</a:t>
                </a:r>
                <a:r>
                  <a:rPr>
                    <a:solidFill>
                      <a:srgbClr val="003B4F"/>
                    </a:solidFill>
                    <a:latin typeface="Courier"/>
                  </a:rPr>
                  <a:t>, </a:t>
                </a:r>
                <a:r>
                  <a:rPr>
                    <a:solidFill>
                      <a:srgbClr val="AD0000"/>
                    </a:solidFill>
                    <a:latin typeface="Courier"/>
                  </a:rPr>
                  <a:t>127.3</a:t>
                </a:r>
                <a:r>
                  <a:rPr>
                    <a:solidFill>
                      <a:srgbClr val="003B4F"/>
                    </a:solidFill>
                    <a:latin typeface="Courier"/>
                  </a:rPr>
                  <a:t>,</a:t>
                </a:r>
                <a:br/>
                <a:r>
                  <a:rPr>
                    <a:solidFill>
                      <a:srgbClr val="003B4F"/>
                    </a:solidFill>
                    <a:latin typeface="Courier"/>
                  </a:rPr>
                  <a:t>    </a:t>
                </a:r>
                <a:r>
                  <a:rPr>
                    <a:solidFill>
                      <a:srgbClr val="AD0000"/>
                    </a:solidFill>
                    <a:latin typeface="Courier"/>
                  </a:rPr>
                  <a:t>131.6</a:t>
                </a:r>
                <a:r>
                  <a:rPr>
                    <a:solidFill>
                      <a:srgbClr val="003B4F"/>
                    </a:solidFill>
                    <a:latin typeface="Courier"/>
                  </a:rPr>
                  <a:t>, </a:t>
                </a:r>
                <a:r>
                  <a:rPr>
                    <a:solidFill>
                      <a:srgbClr val="AD0000"/>
                    </a:solidFill>
                    <a:latin typeface="Courier"/>
                  </a:rPr>
                  <a:t>128.6</a:t>
                </a:r>
                <a:r>
                  <a:rPr>
                    <a:solidFill>
                      <a:srgbClr val="003B4F"/>
                    </a:solidFill>
                    <a:latin typeface="Courier"/>
                  </a:rPr>
                  <a:t>, </a:t>
                </a:r>
                <a:r>
                  <a:rPr>
                    <a:solidFill>
                      <a:srgbClr val="AD0000"/>
                    </a:solidFill>
                    <a:latin typeface="Courier"/>
                  </a:rPr>
                  <a:t>129.0</a:t>
                </a:r>
                <a:r>
                  <a:rPr>
                    <a:solidFill>
                      <a:srgbClr val="003B4F"/>
                    </a:solidFill>
                    <a:latin typeface="Courier"/>
                  </a:rPr>
                  <a:t>, </a:t>
                </a:r>
                <a:r>
                  <a:rPr>
                    <a:solidFill>
                      <a:srgbClr val="AD0000"/>
                    </a:solidFill>
                    <a:latin typeface="Courier"/>
                  </a:rPr>
                  <a:t>135.1</a:t>
                </a:r>
                <a:r>
                  <a:rPr>
                    <a:solidFill>
                      <a:srgbClr val="003B4F"/>
                    </a:solidFill>
                    <a:latin typeface="Courier"/>
                  </a:rPr>
                  <a:t>, </a:t>
                </a:r>
                <a:r>
                  <a:rPr>
                    <a:solidFill>
                      <a:srgbClr val="AD0000"/>
                    </a:solidFill>
                    <a:latin typeface="Courier"/>
                  </a:rPr>
                  <a:t>132.6</a:t>
                </a:r>
                <a:br/>
                <a:r>
                  <a:rPr>
                    <a:solidFill>
                      <a:srgbClr val="003B4F"/>
                    </a:solidFill>
                    <a:latin typeface="Courier"/>
                  </a:rPr>
                  <a:t>  )</a:t>
                </a:r>
                <a:br/>
                <a:r>
                  <a:rPr>
                    <a:solidFill>
                      <a:srgbClr val="003B4F"/>
                    </a:solidFill>
                    <a:latin typeface="Courier"/>
                  </a:rPr>
                  <a:t>)</a:t>
                </a:r>
                <a:br/>
                <a:br/>
                <a:r>
                  <a:rPr>
                    <a:solidFill>
                      <a:srgbClr val="4758AB"/>
                    </a:solidFill>
                    <a:latin typeface="Courier"/>
                  </a:rPr>
                  <a:t>head</a:t>
                </a:r>
                <a:r>
                  <a:rPr>
                    <a:solidFill>
                      <a:srgbClr val="003B4F"/>
                    </a:solidFill>
                    <a:latin typeface="Courier"/>
                  </a:rPr>
                  <a:t>(bp_df, </a:t>
                </a:r>
                <a:r>
                  <a:rPr>
                    <a:solidFill>
                      <a:srgbClr val="AD0000"/>
                    </a:solidFill>
                    <a:latin typeface="Courier"/>
                  </a:rPr>
                  <a:t>5</a:t>
                </a:r>
                <a:r>
                  <a:rPr>
                    <a:solidFill>
                      <a:srgbClr val="003B4F"/>
                    </a:solidFill>
                    <a:latin typeface="Courier"/>
                  </a:rPr>
                  <a:t>)</a:t>
                </a:r>
              </a:p>
              <a:p>
                <a:pPr lvl="0" indent="0">
                  <a:buNone/>
                </a:pPr>
                <a:r>
                  <a:rPr>
                    <a:latin typeface="Courier"/>
                  </a:rPr>
                  <a:t># A tibble: 5 × 2
  treatment   systolic_bp
  &lt;chr&gt;             &lt;dbl&gt;
1 Treatment A        118.
2 Treatment A        117.
3 Treatment A        110.
4 Treatment A        123 
5 Treatment A        126.</a:t>
                </a:r>
              </a:p>
              <a:p>
                <a:pPr lvl="0" indent="0" marL="0">
                  <a:buNone/>
                </a:pPr>
                <a:r>
                  <a:rPr/>
                  <a:t>Perform Independent Two-Sample t Test</a:t>
                </a:r>
              </a:p>
              <a:p>
                <a:pPr lvl="0" indent="0">
                  <a:buNone/>
                </a:pPr>
                <a:r>
                  <a:rPr>
                    <a:solidFill>
                      <a:srgbClr val="003B4F"/>
                    </a:solidFill>
                    <a:latin typeface="Courier"/>
                  </a:rPr>
                  <a:t>t_result &lt;- </a:t>
                </a:r>
                <a:r>
                  <a:rPr>
                    <a:solidFill>
                      <a:srgbClr val="4758AB"/>
                    </a:solidFill>
                    <a:latin typeface="Courier"/>
                  </a:rPr>
                  <a:t>t.test</a:t>
                </a:r>
                <a:r>
                  <a:rPr>
                    <a:solidFill>
                      <a:srgbClr val="003B4F"/>
                    </a:solidFill>
                    <a:latin typeface="Courier"/>
                  </a:rPr>
                  <a:t>(</a:t>
                </a:r>
                <a:br/>
                <a:r>
                  <a:rPr>
                    <a:solidFill>
                      <a:srgbClr val="003B4F"/>
                    </a:solidFill>
                    <a:latin typeface="Courier"/>
                  </a:rPr>
                  <a:t>  systolic_bp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bp_df,</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br/>
                <a:r>
                  <a:rPr>
                    <a:solidFill>
                      <a:srgbClr val="003B4F"/>
                    </a:solidFill>
                    <a:latin typeface="Courier"/>
                  </a:rPr>
                  <a:t>t_result</a:t>
                </a:r>
              </a:p>
              <a:p>
                <a:pPr lvl="0" indent="0">
                  <a:buNone/>
                </a:pPr>
                <a:r>
                  <a:rPr>
                    <a:latin typeface="Courier"/>
                  </a:rPr>
                  <a:t>
    Welch Two Sample t-test
data:  systolic_bp by treatment
t = -10.504, df = 37.747, p-value = 9.279e-13
alternative hypothesis: true difference in means between group Treatment A and group Treatment B is not equal to 0
95 percent confidence interval:
 -13.18014  -8.91986
sample estimates:
mean in group Treatment A mean in group Treatment B 
                  119.885                   130.935 </a:t>
                </a:r>
              </a:p>
              <a:p>
                <a:pPr lvl="0" indent="0" marL="0">
                  <a:buNone/>
                </a:pPr>
                <a:r>
                  <a:rPr b="1"/>
                  <a:t>Code Explanation</a:t>
                </a:r>
              </a:p>
              <a:p>
                <a:pPr lvl="0"/>
                <a:r>
                  <a:rPr>
                    <a:latin typeface="Courier"/>
                  </a:rPr>
                  <a:t>t.test()</a:t>
                </a:r>
                <a:r>
                  <a:rPr/>
                  <a:t> : performs an independent two-sample t test</a:t>
                </a:r>
              </a:p>
              <a:p>
                <a:pPr lvl="0"/>
                <a:r>
                  <a:rPr>
                    <a:latin typeface="Courier"/>
                  </a:rPr>
                  <a:t>systolic_bp ~ treatment</a:t>
                </a:r>
                <a:r>
                  <a:rPr/>
                  <a:t> : compares mean systolic blood pressure between the two treatment groups</a:t>
                </a:r>
              </a:p>
              <a:p>
                <a:pPr lvl="0"/>
                <a:r>
                  <a:rPr>
                    <a:latin typeface="Courier"/>
                  </a:rPr>
                  <a:t>data = bp_df</a:t>
                </a:r>
                <a:r>
                  <a:rPr/>
                  <a:t> : specifies the dataset containing the variables</a:t>
                </a:r>
              </a:p>
              <a:p>
                <a:pPr lvl="0"/>
                <a:r>
                  <a:rPr/>
                  <a:t>null hypothesis assumes no population mean difference between groups:</a:t>
                </a:r>
              </a:p>
              <a:p>
                <a:pPr lvl="0" indent="0" marL="0">
                  <a:buNone/>
                </a:pPr>
                <a14:m>
                  <m:oMath xmlns:m="http://schemas.openxmlformats.org/officeDocument/2006/math">
                    <m:sSub>
                      <m:e>
                        <m:r>
                          <m:t>H</m:t>
                        </m:r>
                      </m:e>
                      <m:sub>
                        <m:r>
                          <m:t>0</m:t>
                        </m:r>
                      </m:sub>
                    </m:sSub>
                    <m:r>
                      <m:rPr>
                        <m:sty m:val="p"/>
                      </m:rPr>
                      <m:t>:</m:t>
                    </m:r>
                    <m:sSub>
                      <m:e>
                        <m:r>
                          <m:t>μ</m:t>
                        </m:r>
                      </m:e>
                      <m:sub>
                        <m:r>
                          <m:t>A</m:t>
                        </m:r>
                      </m:sub>
                    </m:sSub>
                    <m:r>
                      <m:rPr>
                        <m:sty m:val="p"/>
                      </m:rPr>
                      <m:t>−</m:t>
                    </m:r>
                    <m:sSub>
                      <m:e>
                        <m:r>
                          <m:t>μ</m:t>
                        </m:r>
                      </m:e>
                      <m:sub>
                        <m:r>
                          <m:t>B</m:t>
                        </m:r>
                      </m:sub>
                    </m:sSub>
                    <m:r>
                      <m:rPr>
                        <m:sty m:val="p"/>
                      </m:rPr>
                      <m:t>=</m:t>
                    </m:r>
                    <m:r>
                      <m:t>0</m:t>
                    </m:r>
                  </m:oMath>
                </a14:m>
              </a:p>
              <a:p>
                <a:pPr lvl="0"/>
                <a:r>
                  <a:rPr>
                    <a:latin typeface="Courier"/>
                  </a:rPr>
                  <a:t>alternative = "two.sided"</a:t>
                </a:r>
                <a:r>
                  <a:rPr/>
                  <a:t> : specifies a two-tailed test:</a:t>
                </a:r>
              </a:p>
              <a:p>
                <a:pPr lvl="0" indent="0" marL="0">
                  <a:buNone/>
                </a:pPr>
                <a14:m>
                  <m:oMath xmlns:m="http://schemas.openxmlformats.org/officeDocument/2006/math">
                    <m:sSub>
                      <m:e>
                        <m:r>
                          <m:t>H</m:t>
                        </m:r>
                      </m:e>
                      <m:sub>
                        <m:r>
                          <m:t>A</m:t>
                        </m:r>
                      </m:sub>
                    </m:sSub>
                    <m:r>
                      <m:rPr>
                        <m:sty m:val="p"/>
                      </m:rPr>
                      <m:t>:</m:t>
                    </m:r>
                    <m:sSub>
                      <m:e>
                        <m:r>
                          <m:t>μ</m:t>
                        </m:r>
                      </m:e>
                      <m:sub>
                        <m:r>
                          <m:t>A</m:t>
                        </m:r>
                      </m:sub>
                    </m:sSub>
                    <m:r>
                      <m:rPr>
                        <m:sty m:val="p"/>
                      </m:rPr>
                      <m:t>−</m:t>
                    </m:r>
                    <m:sSub>
                      <m:e>
                        <m:r>
                          <m:t>μ</m:t>
                        </m:r>
                      </m:e>
                      <m:sub>
                        <m:r>
                          <m:t>B</m:t>
                        </m:r>
                      </m:sub>
                    </m:sSub>
                    <m:r>
                      <m:rPr>
                        <m:sty m:val="p"/>
                      </m:rPr>
                      <m:t>≠</m:t>
                    </m:r>
                    <m:r>
                      <m:t>0</m:t>
                    </m:r>
                  </m:oMath>
                </a14:m>
              </a:p>
              <a:p>
                <a:pPr lvl="0"/>
                <a:r>
                  <a:rPr/>
                  <a:t>p-value is calculated using the area in both tails of the t distribution</a:t>
                </a:r>
              </a:p>
              <a:p>
                <a:pPr lvl="0"/>
                <a:r>
                  <a:rPr>
                    <a:latin typeface="Courier"/>
                  </a:rPr>
                  <a:t>t_result</a:t>
                </a:r>
                <a:r>
                  <a:rPr/>
                  <a:t> stores the test results, including the t-statistic, degrees of freedom, p-value, confidence interval, and group means</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Independent Two-Sample t-Test: Example</a:t>
                </a:r>
              </a:p>
              <a:p>
                <a:pPr lvl="0" indent="0" marL="0">
                  <a:buNone/>
                </a:pPr>
                <a:r>
                  <a:rPr/>
                  <a:t>Perform Independent Two-Sample t Test</a:t>
                </a:r>
              </a:p>
              <a:p>
                <a:pPr lvl="0" indent="0">
                  <a:buNone/>
                </a:pPr>
                <a:r>
                  <a:rPr>
                    <a:solidFill>
                      <a:srgbClr val="003B4F"/>
                    </a:solidFill>
                    <a:latin typeface="Courier"/>
                  </a:rPr>
                  <a:t>t_result &lt;- </a:t>
                </a:r>
                <a:r>
                  <a:rPr>
                    <a:solidFill>
                      <a:srgbClr val="4758AB"/>
                    </a:solidFill>
                    <a:latin typeface="Courier"/>
                  </a:rPr>
                  <a:t>t.test</a:t>
                </a:r>
                <a:r>
                  <a:rPr>
                    <a:solidFill>
                      <a:srgbClr val="003B4F"/>
                    </a:solidFill>
                    <a:latin typeface="Courier"/>
                  </a:rPr>
                  <a:t>(</a:t>
                </a:r>
                <a:br/>
                <a:r>
                  <a:rPr>
                    <a:solidFill>
                      <a:srgbClr val="003B4F"/>
                    </a:solidFill>
                    <a:latin typeface="Courier"/>
                  </a:rPr>
                  <a:t>  systolic_bp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bp_df,</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br/>
                <a:r>
                  <a:rPr>
                    <a:solidFill>
                      <a:srgbClr val="003B4F"/>
                    </a:solidFill>
                    <a:latin typeface="Courier"/>
                  </a:rPr>
                  <a:t>t_result</a:t>
                </a:r>
              </a:p>
              <a:p>
                <a:pPr lvl="0" indent="0">
                  <a:buNone/>
                </a:pPr>
                <a:r>
                  <a:rPr>
                    <a:latin typeface="Courier"/>
                  </a:rPr>
                  <a:t>
    Welch Two Sample t-test
data:  systolic_bp by treatment
t = -10.504, df = 37.747, p-value = 9.279e-13
alternative hypothesis: true difference in means between group Treatment A and group Treatment B is not equal to 0
95 percent confidence interval:
 -13.18014  -8.91986
sample estimates:
mean in group Treatment A mean in group Treatment B 
                  119.885                   130.935 </a:t>
                </a:r>
              </a:p>
              <a:p>
                <a:pPr lvl="0" indent="0" marL="0">
                  <a:buNone/>
                </a:pPr>
                <a:r>
                  <a:rPr b="1"/>
                  <a:t>Interpretation</a:t>
                </a:r>
              </a:p>
              <a:p>
                <a:pPr lvl="0"/>
                <a:r>
                  <a:rPr/>
                  <a:t>mean systolic blood pressure differs between Treatment A and Treatment B</a:t>
                </a:r>
              </a:p>
              <a:p>
                <a:pPr lvl="0"/>
                <a:r>
                  <a:rPr/>
                  <a:t>t-statistic [</a:t>
                </a:r>
                <a14:m>
                  <m:oMath xmlns:m="http://schemas.openxmlformats.org/officeDocument/2006/math">
                    <m:r>
                      <m:t>t</m:t>
                    </m:r>
                    <m:r>
                      <m:rPr>
                        <m:sty m:val="p"/>
                      </m:rPr>
                      <m:t>=</m:t>
                    </m:r>
                    <m:r>
                      <m:rPr>
                        <m:sty m:val="p"/>
                      </m:rPr>
                      <m:t>−</m:t>
                    </m:r>
                    <m:r>
                      <m:t>10.52</m:t>
                    </m:r>
                  </m:oMath>
                </a14:m>
                <a:r>
                  <a:rPr/>
                  <a:t>] indicates the observed difference in sample means is approximately 10.5 estimated standard errors away from the null hypothesis value of 0</a:t>
                </a:r>
              </a:p>
              <a:p>
                <a:pPr lvl="0"/>
                <a:r>
                  <a:rPr/>
                  <a:t>negative t-statistic indicates the mean systolic blood pressure in Treatment A is lower than in Treatment B</a:t>
                </a:r>
              </a:p>
              <a:p>
                <a:pPr lvl="0"/>
                <a:r>
                  <a:rPr/>
                  <a:t>because the alternative hypothesis is </a:t>
                </a:r>
                <a14:m>
                  <m:oMath xmlns:m="http://schemas.openxmlformats.org/officeDocument/2006/math">
                    <m:sSub>
                      <m:e>
                        <m:r>
                          <m:t>H</m:t>
                        </m:r>
                      </m:e>
                      <m:sub>
                        <m:r>
                          <m:t>A</m:t>
                        </m:r>
                      </m:sub>
                    </m:sSub>
                    <m:r>
                      <m:rPr>
                        <m:sty m:val="p"/>
                      </m:rPr>
                      <m:t>:</m:t>
                    </m:r>
                    <m:sSub>
                      <m:e>
                        <m:r>
                          <m:t>μ</m:t>
                        </m:r>
                      </m:e>
                      <m:sub>
                        <m:r>
                          <m:t>A</m:t>
                        </m:r>
                      </m:sub>
                    </m:sSub>
                    <m:r>
                      <m:rPr>
                        <m:sty m:val="p"/>
                      </m:rPr>
                      <m:t>−</m:t>
                    </m:r>
                    <m:sSub>
                      <m:e>
                        <m:r>
                          <m:t>μ</m:t>
                        </m:r>
                      </m:e>
                      <m:sub>
                        <m:r>
                          <m:t>B</m:t>
                        </m:r>
                      </m:sub>
                    </m:sSub>
                    <m:r>
                      <m:rPr>
                        <m:sty m:val="p"/>
                      </m:rPr>
                      <m:t>≠</m:t>
                    </m:r>
                    <m:r>
                      <m:t>0</m:t>
                    </m:r>
                  </m:oMath>
                </a14:m>
                <a:r>
                  <a:rPr/>
                  <a:t> </a:t>
                </a:r>
                <a14:m>
                  <m:oMath xmlns:m="http://schemas.openxmlformats.org/officeDocument/2006/math">
                    <m:r>
                      <m:rPr>
                        <m:sty m:val="p"/>
                      </m:rPr>
                      <m:t>→</m:t>
                    </m:r>
                  </m:oMath>
                </a14:m>
                <a:r>
                  <a:rPr/>
                  <a:t> p-value is calculated using both tails of the t distribution</a:t>
                </a:r>
              </a:p>
              <a:p>
                <a:pPr lvl="0"/>
                <a:r>
                  <a:rPr/>
                  <a:t>p-value </a:t>
                </a:r>
                <a14:m>
                  <m:oMath xmlns:m="http://schemas.openxmlformats.org/officeDocument/2006/math">
                    <m:r>
                      <m:rPr>
                        <m:sty m:val="p"/>
                      </m:rPr>
                      <m:t>≈</m:t>
                    </m:r>
                    <m:r>
                      <m:t>2.1</m:t>
                    </m:r>
                    <m:r>
                      <m:rPr>
                        <m:sty m:val="p"/>
                      </m:rPr>
                      <m:t>×</m:t>
                    </m:r>
                    <m:sSup>
                      <m:e>
                        <m:r>
                          <m:t>10</m:t>
                        </m:r>
                      </m:e>
                      <m:sup>
                        <m:r>
                          <m:rPr>
                            <m:sty m:val="p"/>
                          </m:rPr>
                          <m:t>−</m:t>
                        </m:r>
                        <m:r>
                          <m:t>12</m:t>
                        </m:r>
                      </m:sup>
                    </m:sSup>
                  </m:oMath>
                </a14:m>
                <a:r>
                  <a:rPr/>
                  <a:t> </a:t>
                </a:r>
                <a14:m>
                  <m:oMath xmlns:m="http://schemas.openxmlformats.org/officeDocument/2006/math">
                    <m:r>
                      <m:rPr>
                        <m:sty m:val="p"/>
                      </m:rPr>
                      <m:t>→</m:t>
                    </m:r>
                  </m:oMath>
                </a14:m>
                <a:r>
                  <a:rPr/>
                  <a:t> indicates strong evidence that the population mean systolic blood pressures differ between the two treatments</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Independent Two-Sample t-Test: Example</a:t>
                </a:r>
              </a:p>
              <a:p>
                <a:pPr lvl="0" indent="0">
                  <a:buNone/>
                </a:pPr>
                <a:r>
                  <a:rPr>
                    <a:solidFill>
                      <a:srgbClr val="4758AB"/>
                    </a:solidFill>
                    <a:latin typeface="Courier"/>
                  </a:rPr>
                  <a:t>library</a:t>
                </a:r>
                <a:r>
                  <a:rPr>
                    <a:solidFill>
                      <a:srgbClr val="003B4F"/>
                    </a:solidFill>
                    <a:latin typeface="Courier"/>
                  </a:rPr>
                  <a:t>(tidyverse)</a:t>
                </a:r>
                <a:br/>
                <a:br/>
                <a:r>
                  <a:rPr>
                    <a:solidFill>
                      <a:srgbClr val="003B4F"/>
                    </a:solidFill>
                    <a:latin typeface="Courier"/>
                  </a:rPr>
                  <a:t>t_stat &lt;- </a:t>
                </a:r>
                <a:r>
                  <a:rPr>
                    <a:solidFill>
                      <a:srgbClr val="5E5E5E"/>
                    </a:solidFill>
                    <a:latin typeface="Courier"/>
                  </a:rPr>
                  <a:t>-</a:t>
                </a:r>
                <a:r>
                  <a:rPr>
                    <a:solidFill>
                      <a:srgbClr val="AD0000"/>
                    </a:solidFill>
                    <a:latin typeface="Courier"/>
                  </a:rPr>
                  <a:t>10.52</a:t>
                </a:r>
                <a:br/>
                <a:r>
                  <a:rPr>
                    <a:solidFill>
                      <a:srgbClr val="003B4F"/>
                    </a:solidFill>
                    <a:latin typeface="Courier"/>
                  </a:rPr>
                  <a:t>df &lt;- </a:t>
                </a:r>
                <a:r>
                  <a:rPr>
                    <a:solidFill>
                      <a:srgbClr val="AD0000"/>
                    </a:solidFill>
                    <a:latin typeface="Courier"/>
                  </a:rPr>
                  <a:t>38</a:t>
                </a:r>
                <a:br/>
                <a:br/>
                <a:r>
                  <a:rPr>
                    <a:solidFill>
                      <a:srgbClr val="003B4F"/>
                    </a:solidFill>
                    <a:latin typeface="Courier"/>
                  </a:rPr>
                  <a:t>p_value &lt;-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pt</a:t>
                </a:r>
                <a:r>
                  <a:rPr>
                    <a:solidFill>
                      <a:srgbClr val="003B4F"/>
                    </a:solidFill>
                    <a:latin typeface="Courier"/>
                  </a:rPr>
                  <a:t>(</a:t>
                </a:r>
                <a:br/>
                <a:r>
                  <a:rPr>
                    <a:solidFill>
                      <a:srgbClr val="003B4F"/>
                    </a:solidFill>
                    <a:latin typeface="Courier"/>
                  </a:rPr>
                  <a:t>  </a:t>
                </a:r>
                <a:r>
                  <a:rPr>
                    <a:solidFill>
                      <a:srgbClr val="4758AB"/>
                    </a:solidFill>
                    <a:latin typeface="Courier"/>
                  </a:rPr>
                  <a:t>abs</a:t>
                </a:r>
                <a:r>
                  <a:rPr>
                    <a:solidFill>
                      <a:srgbClr val="003B4F"/>
                    </a:solidFill>
                    <a:latin typeface="Courier"/>
                  </a:rPr>
                  <a:t>(t_stat),</a:t>
                </a:r>
                <a:br/>
                <a:r>
                  <a:rPr>
                    <a:solidFill>
                      <a:srgbClr val="003B4F"/>
                    </a:solidFill>
                    <a:latin typeface="Courier"/>
                  </a:rPr>
                  <a:t>  </a:t>
                </a:r>
                <a:r>
                  <a:rPr>
                    <a:solidFill>
                      <a:srgbClr val="657422"/>
                    </a:solidFill>
                    <a:latin typeface="Courier"/>
                  </a:rPr>
                  <a:t>df =</a:t>
                </a:r>
                <a:r>
                  <a:rPr>
                    <a:solidFill>
                      <a:srgbClr val="003B4F"/>
                    </a:solidFill>
                    <a:latin typeface="Courier"/>
                  </a:rPr>
                  <a:t> df,</a:t>
                </a:r>
                <a:br/>
                <a:r>
                  <a:rPr>
                    <a:solidFill>
                      <a:srgbClr val="003B4F"/>
                    </a:solidFill>
                    <a:latin typeface="Courier"/>
                  </a:rPr>
                  <a:t>  </a:t>
                </a:r>
                <a:r>
                  <a:rPr>
                    <a:solidFill>
                      <a:srgbClr val="657422"/>
                    </a:solidFill>
                    <a:latin typeface="Courier"/>
                  </a:rPr>
                  <a:t>lower.tail =</a:t>
                </a:r>
                <a:r>
                  <a:rPr>
                    <a:solidFill>
                      <a:srgbClr val="003B4F"/>
                    </a:solidFill>
                    <a:latin typeface="Courier"/>
                  </a:rPr>
                  <a:t> </a:t>
                </a:r>
                <a:r>
                  <a:rPr>
                    <a:solidFill>
                      <a:srgbClr val="8F5902"/>
                    </a:solidFill>
                    <a:latin typeface="Courier"/>
                  </a:rPr>
                  <a:t>FALSE</a:t>
                </a:r>
                <a:br/>
                <a:r>
                  <a:rPr>
                    <a:solidFill>
                      <a:srgbClr val="003B4F"/>
                    </a:solidFill>
                    <a:latin typeface="Courier"/>
                  </a:rPr>
                  <a:t>)</a:t>
                </a:r>
                <a:br/>
                <a:br/>
                <a:r>
                  <a:rPr>
                    <a:solidFill>
                      <a:srgbClr val="003B4F"/>
                    </a:solidFill>
                    <a:latin typeface="Courier"/>
                  </a:rPr>
                  <a:t>plot_df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5E5E5E"/>
                    </a:solidFill>
                    <a:latin typeface="Courier"/>
                  </a:rPr>
                  <a:t>-</a:t>
                </a:r>
                <a:r>
                  <a:rPr>
                    <a:solidFill>
                      <a:srgbClr val="AD0000"/>
                    </a:solidFill>
                    <a:latin typeface="Courier"/>
                  </a:rPr>
                  <a:t>14</a:t>
                </a:r>
                <a:r>
                  <a:rPr>
                    <a:solidFill>
                      <a:srgbClr val="003B4F"/>
                    </a:solidFill>
                    <a:latin typeface="Courier"/>
                  </a:rPr>
                  <a:t>, </a:t>
                </a:r>
                <a:r>
                  <a:rPr>
                    <a:solidFill>
                      <a:srgbClr val="AD0000"/>
                    </a:solidFill>
                    <a:latin typeface="Courier"/>
                  </a:rPr>
                  <a:t>14</a:t>
                </a:r>
                <a:r>
                  <a:rPr>
                    <a:solidFill>
                      <a:srgbClr val="003B4F"/>
                    </a:solidFill>
                    <a:latin typeface="Courier"/>
                  </a:rPr>
                  <a:t>, </a:t>
                </a:r>
                <a:r>
                  <a:rPr>
                    <a:solidFill>
                      <a:srgbClr val="657422"/>
                    </a:solidFill>
                    <a:latin typeface="Courier"/>
                  </a:rPr>
                  <a:t>length.out =</a:t>
                </a:r>
                <a:r>
                  <a:rPr>
                    <a:solidFill>
                      <a:srgbClr val="003B4F"/>
                    </a:solidFill>
                    <a:latin typeface="Courier"/>
                  </a:rPr>
                  <a:t> </a:t>
                </a:r>
                <a:r>
                  <a:rPr>
                    <a:solidFill>
                      <a:srgbClr val="AD0000"/>
                    </a:solidFill>
                    <a:latin typeface="Courier"/>
                  </a:rPr>
                  <a:t>2000</a:t>
                </a:r>
                <a:r>
                  <a:rPr>
                    <a:solidFill>
                      <a:srgbClr val="003B4F"/>
                    </a:solidFill>
                    <a:latin typeface="Courier"/>
                  </a:rPr>
                  <a:t>),</a:t>
                </a:r>
                <a:br/>
                <a:r>
                  <a:rPr>
                    <a:solidFill>
                      <a:srgbClr val="003B4F"/>
                    </a:solidFill>
                    <a:latin typeface="Courier"/>
                  </a:rPr>
                  <a:t>  </a:t>
                </a:r>
                <a:r>
                  <a:rPr>
                    <a:solidFill>
                      <a:srgbClr val="657422"/>
                    </a:solidFill>
                    <a:latin typeface="Courier"/>
                  </a:rPr>
                  <a:t>density =</a:t>
                </a:r>
                <a:r>
                  <a:rPr>
                    <a:solidFill>
                      <a:srgbClr val="003B4F"/>
                    </a:solidFill>
                    <a:latin typeface="Courier"/>
                  </a:rPr>
                  <a:t> </a:t>
                </a:r>
                <a:r>
                  <a:rPr>
                    <a:solidFill>
                      <a:srgbClr val="4758AB"/>
                    </a:solidFill>
                    <a:latin typeface="Courier"/>
                  </a:rPr>
                  <a:t>dt</a:t>
                </a:r>
                <a:r>
                  <a:rPr>
                    <a:solidFill>
                      <a:srgbClr val="003B4F"/>
                    </a:solidFill>
                    <a:latin typeface="Courier"/>
                  </a:rPr>
                  <a:t>(x, </a:t>
                </a:r>
                <a:r>
                  <a:rPr>
                    <a:solidFill>
                      <a:srgbClr val="657422"/>
                    </a:solidFill>
                    <a:latin typeface="Courier"/>
                  </a:rPr>
                  <a:t>df =</a:t>
                </a:r>
                <a:r>
                  <a:rPr>
                    <a:solidFill>
                      <a:srgbClr val="003B4F"/>
                    </a:solidFill>
                    <a:latin typeface="Courier"/>
                  </a:rPr>
                  <a:t> df)</a:t>
                </a:r>
                <a:br/>
                <a:r>
                  <a:rPr>
                    <a:solidFill>
                      <a:srgbClr val="003B4F"/>
                    </a:solidFill>
                    <a:latin typeface="Courier"/>
                  </a:rPr>
                  <a:t>)</a:t>
                </a:r>
                <a:br/>
                <a:br/>
                <a:r>
                  <a:rPr>
                    <a:solidFill>
                      <a:srgbClr val="003B4F"/>
                    </a:solidFill>
                    <a:latin typeface="Courier"/>
                  </a:rPr>
                  <a:t>shade_df &lt;- plot_df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(x </a:t>
                </a:r>
                <a:r>
                  <a:rPr>
                    <a:solidFill>
                      <a:srgbClr val="5E5E5E"/>
                    </a:solidFill>
                    <a:latin typeface="Courier"/>
                  </a:rPr>
                  <a:t>&lt;=</a:t>
                </a:r>
                <a:r>
                  <a:rPr>
                    <a:solidFill>
                      <a:srgbClr val="003B4F"/>
                    </a:solidFill>
                    <a:latin typeface="Courier"/>
                  </a:rPr>
                  <a:t> t_stat </a:t>
                </a:r>
                <a:r>
                  <a:rPr>
                    <a:solidFill>
                      <a:srgbClr val="5E5E5E"/>
                    </a:solidFill>
                    <a:latin typeface="Courier"/>
                  </a:rPr>
                  <a:t>|</a:t>
                </a:r>
                <a:r>
                  <a:rPr>
                    <a:solidFill>
                      <a:srgbClr val="003B4F"/>
                    </a:solidFill>
                    <a:latin typeface="Courier"/>
                  </a:rPr>
                  <a:t> x </a:t>
                </a:r>
                <a:r>
                  <a:rPr>
                    <a:solidFill>
                      <a:srgbClr val="5E5E5E"/>
                    </a:solidFill>
                    <a:latin typeface="Courier"/>
                  </a:rPr>
                  <a:t>&gt;=</a:t>
                </a:r>
                <a:r>
                  <a:rPr>
                    <a:solidFill>
                      <a:srgbClr val="003B4F"/>
                    </a:solidFill>
                    <a:latin typeface="Courier"/>
                  </a:rPr>
                  <a:t> </a:t>
                </a:r>
                <a:r>
                  <a:rPr>
                    <a:solidFill>
                      <a:srgbClr val="4758AB"/>
                    </a:solidFill>
                    <a:latin typeface="Courier"/>
                  </a:rPr>
                  <a:t>abs</a:t>
                </a:r>
                <a:r>
                  <a:rPr>
                    <a:solidFill>
                      <a:srgbClr val="003B4F"/>
                    </a:solidFill>
                    <a:latin typeface="Courier"/>
                  </a:rPr>
                  <a:t>(t_stat))</a:t>
                </a:r>
                <a:br/>
                <a:br/>
                <a:r>
                  <a:rPr>
                    <a:solidFill>
                      <a:srgbClr val="4758AB"/>
                    </a:solidFill>
                    <a:latin typeface="Courier"/>
                  </a:rPr>
                  <a:t>ggplot</a:t>
                </a:r>
                <a:r>
                  <a:rPr>
                    <a:solidFill>
                      <a:srgbClr val="003B4F"/>
                    </a:solidFill>
                    <a:latin typeface="Courier"/>
                  </a:rPr>
                  <a:t>(plot_df,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x, </a:t>
                </a:r>
                <a:r>
                  <a:rPr>
                    <a:solidFill>
                      <a:srgbClr val="657422"/>
                    </a:solidFill>
                    <a:latin typeface="Courier"/>
                  </a:rPr>
                  <a:t>y =</a:t>
                </a:r>
                <a:r>
                  <a:rPr>
                    <a:solidFill>
                      <a:srgbClr val="003B4F"/>
                    </a:solidFill>
                    <a:latin typeface="Courier"/>
                  </a:rPr>
                  <a:t> density)) </a:t>
                </a:r>
                <a:r>
                  <a:rPr>
                    <a:solidFill>
                      <a:srgbClr val="5E5E5E"/>
                    </a:solidFill>
                    <a:latin typeface="Courier"/>
                  </a:rPr>
                  <a:t>+</a:t>
                </a:r>
                <a:b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linewidth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5E5E5E"/>
                    </a:solidFill>
                    <a:latin typeface="Courier"/>
                  </a:rPr>
                  <a:t>+</a:t>
                </a:r>
                <a:br/>
                <a:br/>
                <a:r>
                  <a:rPr>
                    <a:solidFill>
                      <a:srgbClr val="003B4F"/>
                    </a:solidFill>
                    <a:latin typeface="Courier"/>
                  </a:rPr>
                  <a:t>  </a:t>
                </a:r>
                <a:r>
                  <a:rPr>
                    <a:solidFill>
                      <a:srgbClr val="4758AB"/>
                    </a:solidFill>
                    <a:latin typeface="Courier"/>
                  </a:rPr>
                  <a:t>geom_area</a:t>
                </a:r>
                <a:r>
                  <a:rPr>
                    <a:solidFill>
                      <a:srgbClr val="003B4F"/>
                    </a:solidFill>
                    <a:latin typeface="Courier"/>
                  </a:rPr>
                  <a:t>(</a:t>
                </a:r>
                <a:br/>
                <a:r>
                  <a:rPr>
                    <a:solidFill>
                      <a:srgbClr val="003B4F"/>
                    </a:solidFill>
                    <a:latin typeface="Courier"/>
                  </a:rPr>
                  <a:t>    </a:t>
                </a:r>
                <a:r>
                  <a:rPr>
                    <a:solidFill>
                      <a:srgbClr val="657422"/>
                    </a:solidFill>
                    <a:latin typeface="Courier"/>
                  </a:rPr>
                  <a:t>data =</a:t>
                </a:r>
                <a:r>
                  <a:rPr>
                    <a:solidFill>
                      <a:srgbClr val="003B4F"/>
                    </a:solidFill>
                    <a:latin typeface="Courier"/>
                  </a:rPr>
                  <a:t> shade_df,</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x, </a:t>
                </a:r>
                <a:r>
                  <a:rPr>
                    <a:solidFill>
                      <a:srgbClr val="657422"/>
                    </a:solidFill>
                    <a:latin typeface="Courier"/>
                  </a:rPr>
                  <a:t>y =</a:t>
                </a:r>
                <a:r>
                  <a:rPr>
                    <a:solidFill>
                      <a:srgbClr val="003B4F"/>
                    </a:solidFill>
                    <a:latin typeface="Courier"/>
                  </a:rPr>
                  <a:t> density),</a:t>
                </a:r>
                <a:b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0.4</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geom_vline</a:t>
                </a:r>
                <a:r>
                  <a:rPr>
                    <a:solidFill>
                      <a:srgbClr val="003B4F"/>
                    </a:solidFill>
                    <a:latin typeface="Courier"/>
                  </a:rPr>
                  <a:t>(</a:t>
                </a:r>
                <a:br/>
                <a:r>
                  <a:rPr>
                    <a:solidFill>
                      <a:srgbClr val="003B4F"/>
                    </a:solidFill>
                    <a:latin typeface="Courier"/>
                  </a:rPr>
                  <a:t>    </a:t>
                </a:r>
                <a:r>
                  <a:rPr>
                    <a:solidFill>
                      <a:srgbClr val="657422"/>
                    </a:solidFill>
                    <a:latin typeface="Courier"/>
                  </a:rPr>
                  <a:t>xintercept =</a:t>
                </a:r>
                <a:r>
                  <a:rPr>
                    <a:solidFill>
                      <a:srgbClr val="003B4F"/>
                    </a:solidFill>
                    <a:latin typeface="Courier"/>
                  </a:rPr>
                  <a:t> </a:t>
                </a:r>
                <a:r>
                  <a:rPr>
                    <a:solidFill>
                      <a:srgbClr val="4758AB"/>
                    </a:solidFill>
                    <a:latin typeface="Courier"/>
                  </a:rPr>
                  <a:t>c</a:t>
                </a:r>
                <a:r>
                  <a:rPr>
                    <a:solidFill>
                      <a:srgbClr val="003B4F"/>
                    </a:solidFill>
                    <a:latin typeface="Courier"/>
                  </a:rPr>
                  <a:t>(t_stat, </a:t>
                </a:r>
                <a:r>
                  <a:rPr>
                    <a:solidFill>
                      <a:srgbClr val="4758AB"/>
                    </a:solidFill>
                    <a:latin typeface="Courier"/>
                  </a:rPr>
                  <a:t>abs</a:t>
                </a:r>
                <a:r>
                  <a:rPr>
                    <a:solidFill>
                      <a:srgbClr val="003B4F"/>
                    </a:solidFill>
                    <a:latin typeface="Courier"/>
                  </a:rPr>
                  <a:t>(t_stat)),</a:t>
                </a:r>
                <a:b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a:t>
                </a:r>
                <a:b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annotate</a:t>
                </a:r>
                <a:r>
                  <a:rPr>
                    <a:solidFill>
                      <a:srgbClr val="003B4F"/>
                    </a:solidFill>
                    <a:latin typeface="Courier"/>
                  </a:rPr>
                  <a:t>(</a:t>
                </a:r>
                <a:br/>
                <a:r>
                  <a:rPr>
                    <a:solidFill>
                      <a:srgbClr val="003B4F"/>
                    </a:solidFill>
                    <a:latin typeface="Courier"/>
                  </a:rPr>
                  <a:t>    </a:t>
                </a:r>
                <a:r>
                  <a:rPr>
                    <a:solidFill>
                      <a:srgbClr val="20794D"/>
                    </a:solidFill>
                    <a:latin typeface="Courier"/>
                  </a:rPr>
                  <a:t>"text"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t_stat,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AD0000"/>
                    </a:solidFill>
                    <a:latin typeface="Courier"/>
                  </a:rPr>
                  <a:t>0.03</a:t>
                </a:r>
                <a:r>
                  <a:rPr>
                    <a:solidFill>
                      <a:srgbClr val="003B4F"/>
                    </a:solidFill>
                    <a:latin typeface="Courier"/>
                  </a:rPr>
                  <a:t>,</a:t>
                </a:r>
                <a:br/>
                <a:r>
                  <a:rPr>
                    <a:solidFill>
                      <a:srgbClr val="003B4F"/>
                    </a:solidFill>
                    <a:latin typeface="Courier"/>
                  </a:rPr>
                  <a:t>    </a:t>
                </a:r>
                <a:r>
                  <a:rPr>
                    <a:solidFill>
                      <a:srgbClr val="657422"/>
                    </a:solidFill>
                    <a:latin typeface="Courier"/>
                  </a:rPr>
                  <a:t>label =</a:t>
                </a:r>
                <a:r>
                  <a:rPr>
                    <a:solidFill>
                      <a:srgbClr val="003B4F"/>
                    </a:solidFill>
                    <a:latin typeface="Courier"/>
                  </a:rPr>
                  <a:t> </a:t>
                </a:r>
                <a:r>
                  <a:rPr>
                    <a:solidFill>
                      <a:srgbClr val="20794D"/>
                    </a:solidFill>
                    <a:latin typeface="Courier"/>
                  </a:rPr>
                  <a:t>"t = -10.52"</a:t>
                </a:r>
                <a:r>
                  <a:rPr>
                    <a:solidFill>
                      <a:srgbClr val="003B4F"/>
                    </a:solidFill>
                    <a:latin typeface="Courier"/>
                  </a:rPr>
                  <a:t>,</a:t>
                </a:r>
                <a:br/>
                <a:r>
                  <a:rPr>
                    <a:solidFill>
                      <a:srgbClr val="003B4F"/>
                    </a:solidFill>
                    <a:latin typeface="Courier"/>
                  </a:rPr>
                  <a:t>    </a:t>
                </a:r>
                <a:r>
                  <a:rPr>
                    <a:solidFill>
                      <a:srgbClr val="657422"/>
                    </a:solidFill>
                    <a:latin typeface="Courier"/>
                  </a:rPr>
                  <a:t>hjust =</a:t>
                </a:r>
                <a:r>
                  <a:rPr>
                    <a:solidFill>
                      <a:srgbClr val="003B4F"/>
                    </a:solidFill>
                    <a:latin typeface="Courier"/>
                  </a:rPr>
                  <a:t> </a:t>
                </a:r>
                <a:r>
                  <a:rPr>
                    <a:solidFill>
                      <a:srgbClr val="AD0000"/>
                    </a:solidFill>
                    <a:latin typeface="Courier"/>
                  </a:rPr>
                  <a:t>1.1</a:t>
                </a:r>
                <a:r>
                  <a:rPr>
                    <a:solidFill>
                      <a:srgbClr val="003B4F"/>
                    </a:solidFill>
                    <a:latin typeface="Courier"/>
                  </a:rPr>
                  <a:t>,</a:t>
                </a:r>
                <a:b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4</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annotate</a:t>
                </a:r>
                <a:r>
                  <a:rPr>
                    <a:solidFill>
                      <a:srgbClr val="003B4F"/>
                    </a:solidFill>
                    <a:latin typeface="Courier"/>
                  </a:rPr>
                  <a:t>(</a:t>
                </a:r>
                <a:br/>
                <a:r>
                  <a:rPr>
                    <a:solidFill>
                      <a:srgbClr val="003B4F"/>
                    </a:solidFill>
                    <a:latin typeface="Courier"/>
                  </a:rPr>
                  <a:t>    </a:t>
                </a:r>
                <a:r>
                  <a:rPr>
                    <a:solidFill>
                      <a:srgbClr val="20794D"/>
                    </a:solidFill>
                    <a:latin typeface="Courier"/>
                  </a:rPr>
                  <a:t>"text"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abs</a:t>
                </a:r>
                <a:r>
                  <a:rPr>
                    <a:solidFill>
                      <a:srgbClr val="003B4F"/>
                    </a:solidFill>
                    <a:latin typeface="Courier"/>
                  </a:rPr>
                  <a:t>(t_stat),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AD0000"/>
                    </a:solidFill>
                    <a:latin typeface="Courier"/>
                  </a:rPr>
                  <a:t>0.03</a:t>
                </a:r>
                <a:r>
                  <a:rPr>
                    <a:solidFill>
                      <a:srgbClr val="003B4F"/>
                    </a:solidFill>
                    <a:latin typeface="Courier"/>
                  </a:rPr>
                  <a:t>,</a:t>
                </a:r>
                <a:br/>
                <a:r>
                  <a:rPr>
                    <a:solidFill>
                      <a:srgbClr val="003B4F"/>
                    </a:solidFill>
                    <a:latin typeface="Courier"/>
                  </a:rPr>
                  <a:t>    </a:t>
                </a:r>
                <a:r>
                  <a:rPr>
                    <a:solidFill>
                      <a:srgbClr val="657422"/>
                    </a:solidFill>
                    <a:latin typeface="Courier"/>
                  </a:rPr>
                  <a:t>label =</a:t>
                </a:r>
                <a:r>
                  <a:rPr>
                    <a:solidFill>
                      <a:srgbClr val="003B4F"/>
                    </a:solidFill>
                    <a:latin typeface="Courier"/>
                  </a:rPr>
                  <a:t> </a:t>
                </a:r>
                <a:r>
                  <a:rPr>
                    <a:solidFill>
                      <a:srgbClr val="20794D"/>
                    </a:solidFill>
                    <a:latin typeface="Courier"/>
                  </a:rPr>
                  <a:t>"t = 10.52"</a:t>
                </a:r>
                <a:r>
                  <a:rPr>
                    <a:solidFill>
                      <a:srgbClr val="003B4F"/>
                    </a:solidFill>
                    <a:latin typeface="Courier"/>
                  </a:rPr>
                  <a:t>,</a:t>
                </a:r>
                <a:br/>
                <a:r>
                  <a:rPr>
                    <a:solidFill>
                      <a:srgbClr val="003B4F"/>
                    </a:solidFill>
                    <a:latin typeface="Courier"/>
                  </a:rPr>
                  <a:t>    </a:t>
                </a:r>
                <a:r>
                  <a:rPr>
                    <a:solidFill>
                      <a:srgbClr val="657422"/>
                    </a:solidFill>
                    <a:latin typeface="Courier"/>
                  </a:rPr>
                  <a:t>hjust =</a:t>
                </a:r>
                <a:r>
                  <a:rPr>
                    <a:solidFill>
                      <a:srgbClr val="003B4F"/>
                    </a:solidFill>
                    <a:latin typeface="Courier"/>
                  </a:rPr>
                  <a:t> </a:t>
                </a:r>
                <a:r>
                  <a:rPr>
                    <a:solidFill>
                      <a:srgbClr val="5E5E5E"/>
                    </a:solidFill>
                    <a:latin typeface="Courier"/>
                  </a:rPr>
                  <a:t>-</a:t>
                </a:r>
                <a:r>
                  <a:rPr>
                    <a:solidFill>
                      <a:srgbClr val="AD0000"/>
                    </a:solidFill>
                    <a:latin typeface="Courier"/>
                  </a:rPr>
                  <a:t>0.1</a:t>
                </a:r>
                <a:r>
                  <a:rPr>
                    <a:solidFill>
                      <a:srgbClr val="003B4F"/>
                    </a:solidFill>
                    <a:latin typeface="Courier"/>
                  </a:rPr>
                  <a:t>,</a:t>
                </a:r>
                <a:b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4</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"Two-Tailed p-value from the t Distribution"</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4758AB"/>
                    </a:solidFill>
                    <a:latin typeface="Courier"/>
                  </a:rPr>
                  <a:t>expression</a:t>
                </a:r>
                <a:r>
                  <a:rPr>
                    <a:solidFill>
                      <a:srgbClr val="003B4F"/>
                    </a:solidFill>
                    <a:latin typeface="Courier"/>
                  </a:rPr>
                  <a:t>(</a:t>
                </a:r>
                <a:br/>
                <a:r>
                  <a:rPr>
                    <a:solidFill>
                      <a:srgbClr val="003B4F"/>
                    </a:solidFill>
                    <a:latin typeface="Courier"/>
                  </a:rPr>
                  <a:t>      </a:t>
                </a:r>
                <a:r>
                  <a:rPr>
                    <a:solidFill>
                      <a:srgbClr val="20794D"/>
                    </a:solidFill>
                    <a:latin typeface="Courier"/>
                  </a:rPr>
                  <a:t>"Independent two-sample t test: "</a:t>
                </a:r>
                <a:r>
                  <a:rPr>
                    <a:solidFill>
                      <a:srgbClr val="003B4F"/>
                    </a:solidFill>
                    <a:latin typeface="Courier"/>
                  </a:rPr>
                  <a:t> </a:t>
                </a:r>
                <a:r>
                  <a:rPr>
                    <a:solidFill>
                      <a:srgbClr val="5E5E5E"/>
                    </a:solidFill>
                    <a:latin typeface="Courier"/>
                  </a:rPr>
                  <a:t>~</a:t>
                </a:r>
                <a:br/>
                <a:r>
                  <a:rPr>
                    <a:solidFill>
                      <a:srgbClr val="003B4F"/>
                    </a:solidFill>
                    <a:latin typeface="Courier"/>
                  </a:rPr>
                  <a:t>      H[A] </a:t>
                </a:r>
                <a:r>
                  <a:rPr>
                    <a:solidFill>
                      <a:srgbClr val="5E5E5E"/>
                    </a:solidFill>
                    <a:latin typeface="Courier"/>
                  </a:rPr>
                  <a:t>~</a:t>
                </a:r>
                <a:r>
                  <a:rPr>
                    <a:solidFill>
                      <a:srgbClr val="003B4F"/>
                    </a:solidFill>
                    <a:latin typeface="Courier"/>
                  </a:rPr>
                  <a:t> </a:t>
                </a:r>
                <a:r>
                  <a:rPr>
                    <a:solidFill>
                      <a:srgbClr val="20794D"/>
                    </a:solidFill>
                    <a:latin typeface="Courier"/>
                  </a:rPr>
                  <a:t>":"</a:t>
                </a:r>
                <a:r>
                  <a:rPr>
                    <a:solidFill>
                      <a:srgbClr val="003B4F"/>
                    </a:solidFill>
                    <a:latin typeface="Courier"/>
                  </a:rPr>
                  <a:t> </a:t>
                </a:r>
                <a:r>
                  <a:rPr>
                    <a:solidFill>
                      <a:srgbClr val="5E5E5E"/>
                    </a:solidFill>
                    <a:latin typeface="Courier"/>
                  </a:rPr>
                  <a:t>~</a:t>
                </a:r>
                <a:r>
                  <a:rPr>
                    <a:solidFill>
                      <a:srgbClr val="003B4F"/>
                    </a:solidFill>
                    <a:latin typeface="Courier"/>
                  </a:rPr>
                  <a:t> mu[A] </a:t>
                </a:r>
                <a:r>
                  <a:rPr>
                    <a:solidFill>
                      <a:srgbClr val="5E5E5E"/>
                    </a:solidFill>
                    <a:latin typeface="Courier"/>
                  </a:rPr>
                  <a:t>-</a:t>
                </a:r>
                <a:r>
                  <a:rPr>
                    <a:solidFill>
                      <a:srgbClr val="003B4F"/>
                    </a:solidFill>
                    <a:latin typeface="Courier"/>
                  </a:rPr>
                  <a:t> mu[B] </a:t>
                </a:r>
                <a:r>
                  <a:rPr>
                    <a:solidFill>
                      <a:srgbClr val="5E5E5E"/>
                    </a:solidFill>
                    <a:latin typeface="Courier"/>
                  </a:rPr>
                  <a:t>!=</a:t>
                </a:r>
                <a:r>
                  <a:rPr>
                    <a:solidFill>
                      <a:srgbClr val="003B4F"/>
                    </a:solidFill>
                    <a:latin typeface="Courier"/>
                  </a:rPr>
                  <a:t> </a:t>
                </a:r>
                <a:r>
                  <a:rPr>
                    <a:solidFill>
                      <a:srgbClr val="AD0000"/>
                    </a:solidFill>
                    <a:latin typeface="Courier"/>
                  </a:rPr>
                  <a:t>0</a:t>
                </a:r>
                <a:br/>
                <a:r>
                  <a:rPr>
                    <a:solidFill>
                      <a:srgbClr val="003B4F"/>
                    </a:solidFill>
                    <a:latin typeface="Courier"/>
                  </a:rPr>
                  <a:t>    ),</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 statistic"</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"Density"</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theme_bw</a:t>
                </a:r>
                <a:r>
                  <a:rPr>
                    <a:solidFill>
                      <a:srgbClr val="003B4F"/>
                    </a:solidFill>
                    <a:latin typeface="Courier"/>
                  </a:rPr>
                  <a:t>()</a:t>
                </a:r>
              </a:p>
              <a:p>
                <a:pPr lvl="0" indent="0" marL="0">
                  <a:buNone/>
                </a:pPr>
              </a:p>
              <a:p>
                <a:pPr lvl="0" indent="0" marL="0">
                  <a:buNone/>
                </a:pPr>
                <a:r>
                  <a:rPr b="1"/>
                  <a:t>Interpretation</a:t>
                </a:r>
              </a:p>
              <a:p>
                <a:pPr lvl="0"/>
                <a:r>
                  <a:rPr/>
                  <a:t>black curve represents the theoretical t distribution under the null hypothesis that the population mean blood pressure difference between Treatment A and Treatment B equals 0</a:t>
                </a:r>
              </a:p>
              <a:p>
                <a:pPr lvl="0"/>
                <a:r>
                  <a:rPr/>
                  <a:t>dashed vertical lines mark the observed t-statistic values used to define the two-tailed p-value region</a:t>
                </a:r>
              </a:p>
              <a:p>
                <a:pPr lvl="0"/>
                <a:r>
                  <a:rPr/>
                  <a:t>red shaded tail regions represent the p-value for the two-tailed test </a:t>
                </a:r>
                <a14:m>
                  <m:oMath xmlns:m="http://schemas.openxmlformats.org/officeDocument/2006/math">
                    <m:sSub>
                      <m:e>
                        <m:r>
                          <m:t>H</m:t>
                        </m:r>
                      </m:e>
                      <m:sub>
                        <m:r>
                          <m:t>A</m:t>
                        </m:r>
                      </m:sub>
                    </m:sSub>
                    <m:r>
                      <m:rPr>
                        <m:sty m:val="p"/>
                      </m:rPr>
                      <m:t>:</m:t>
                    </m:r>
                    <m:sSub>
                      <m:e>
                        <m:r>
                          <m:t>μ</m:t>
                        </m:r>
                      </m:e>
                      <m:sub>
                        <m:r>
                          <m:t>A</m:t>
                        </m:r>
                      </m:sub>
                    </m:sSub>
                    <m:r>
                      <m:rPr>
                        <m:sty m:val="p"/>
                      </m:rPr>
                      <m:t>−</m:t>
                    </m:r>
                    <m:sSub>
                      <m:e>
                        <m:r>
                          <m:t>μ</m:t>
                        </m:r>
                      </m:e>
                      <m:sub>
                        <m:r>
                          <m:t>B</m:t>
                        </m:r>
                      </m:sub>
                    </m:sSub>
                    <m:r>
                      <m:rPr>
                        <m:sty m:val="p"/>
                      </m:rPr>
                      <m:t>≠</m:t>
                    </m:r>
                    <m:r>
                      <m:t>0</m:t>
                    </m:r>
                  </m:oMath>
                </a14:m>
              </a:p>
              <a:p>
                <a:pPr lvl="0"/>
                <a:r>
                  <a:rPr/>
                  <a:t>observed t-statistic is far from the center of the distribution in both directions</a:t>
                </a:r>
              </a:p>
              <a:p>
                <a:pPr lvl="0"/>
                <a:r>
                  <a:rPr/>
                  <a:t>combined shaded probability area is extremely small </a:t>
                </a:r>
                <a14:m>
                  <m:oMath xmlns:m="http://schemas.openxmlformats.org/officeDocument/2006/math">
                    <m:r>
                      <m:rPr>
                        <m:sty m:val="p"/>
                      </m:rPr>
                      <m:t>→</m:t>
                    </m:r>
                  </m:oMath>
                </a14:m>
                <a:r>
                  <a:rPr/>
                  <a:t> indicates that observing a difference in sample means this extreme would be very unlikely if the true population means were equal</a:t>
                </a:r>
              </a:p>
              <a:p>
                <a:pPr lvl="0"/>
                <a:r>
                  <a:rPr/>
                  <a:t>small p-value [</a:t>
                </a:r>
                <a14:m>
                  <m:oMath xmlns:m="http://schemas.openxmlformats.org/officeDocument/2006/math">
                    <m:r>
                      <m:t>p</m:t>
                    </m:r>
                    <m:r>
                      <m:rPr>
                        <m:sty m:val="p"/>
                      </m:rPr>
                      <m:t>≈</m:t>
                    </m:r>
                    <m:r>
                      <m:t>2.1</m:t>
                    </m:r>
                    <m:r>
                      <m:rPr>
                        <m:sty m:val="p"/>
                      </m:rPr>
                      <m:t>×</m:t>
                    </m:r>
                    <m:sSup>
                      <m:e>
                        <m:r>
                          <m:t>10</m:t>
                        </m:r>
                      </m:e>
                      <m:sup>
                        <m:r>
                          <m:rPr>
                            <m:sty m:val="p"/>
                          </m:rPr>
                          <m:t>−</m:t>
                        </m:r>
                        <m:r>
                          <m:t>12</m:t>
                        </m:r>
                      </m:sup>
                    </m:sSup>
                  </m:oMath>
                </a14:m>
                <a:r>
                  <a:rPr/>
                  <a:t>] provides strong statistical evidence that the population mean blood pressures differ between Treatment A and Treatment B</a:t>
                </a:r>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Paired t-Test: Example</a:t>
                </a:r>
              </a:p>
              <a:p>
                <a:pPr lvl="0" indent="0" marL="0">
                  <a:buNone/>
                </a:pPr>
                <a:r>
                  <a:rPr b="1"/>
                  <a:t>Background</a:t>
                </a:r>
              </a:p>
              <a:p>
                <a:pPr lvl="0" indent="0" marL="0">
                  <a:buNone/>
                </a:pPr>
                <a:r>
                  <a:rPr/>
                  <a:t>A clinical neurology study measures symptom severity scores in the same patients before and after treatment.</a:t>
                </a:r>
              </a:p>
              <a:p>
                <a:pPr lvl="0" indent="0" marL="0">
                  <a:buNone/>
                </a:pPr>
                <a:r>
                  <a:rPr/>
                  <a:t>Researchers want to determine whether the average within-patient change in symptom score differs from 0.</a:t>
                </a:r>
              </a:p>
              <a:p>
                <a:pPr lvl="0" indent="0" marL="0">
                  <a:buNone/>
                </a:pPr>
                <a:r>
                  <a:rPr/>
                  <a:t>First define the paired difference:</a:t>
                </a:r>
              </a:p>
              <a:p>
                <a:pPr lvl="0" indent="0" marL="0">
                  <a:buNone/>
                </a:pPr>
                <a14:m>
                  <m:oMath xmlns:m="http://schemas.openxmlformats.org/officeDocument/2006/math">
                    <m:r>
                      <m:t>d</m:t>
                    </m:r>
                    <m:r>
                      <m:rPr>
                        <m:sty m:val="p"/>
                      </m:rPr>
                      <m:t>=</m:t>
                    </m:r>
                    <m:r>
                      <m:rPr>
                        <m:nor/>
                        <m:sty m:val="p"/>
                      </m:rPr>
                      <m:t>before</m:t>
                    </m:r>
                    <m:r>
                      <m:rPr>
                        <m:sty m:val="p"/>
                      </m:rPr>
                      <m:t>−</m:t>
                    </m:r>
                    <m:r>
                      <m:rPr>
                        <m:nor/>
                        <m:sty m:val="p"/>
                      </m:rPr>
                      <m:t>after</m:t>
                    </m:r>
                  </m:oMath>
                </a14:m>
              </a:p>
              <a:p>
                <a:pPr lvl="0" indent="0" marL="0">
                  <a:buNone/>
                </a:pPr>
                <a:r>
                  <a:rPr/>
                  <a:t>Determine:</a:t>
                </a:r>
              </a:p>
              <a:p>
                <a:pPr lvl="0" indent="0" marL="1270000">
                  <a:buNone/>
                </a:pPr>
                <a:r>
                  <a:rPr sz="2000"/>
                  <a:t>Is the average within-patient change in symptom score different from 0?</a:t>
                </a:r>
              </a:p>
              <a:p>
                <a:pPr lvl="0" indent="0" marL="0">
                  <a:buNone/>
                </a:pPr>
                <a:r>
                  <a:rPr/>
                  <a:t>Where:</a:t>
                </a:r>
              </a:p>
              <a:p>
                <a:pPr lvl="0" indent="0" marL="0">
                  <a:buNone/>
                </a:pPr>
                <a14:m>
                  <m:oMath xmlns:m="http://schemas.openxmlformats.org/officeDocument/2006/math">
                    <m:sSub>
                      <m:e>
                        <m:r>
                          <m:t>H</m:t>
                        </m:r>
                      </m:e>
                      <m:sub>
                        <m:r>
                          <m:t>0</m:t>
                        </m:r>
                      </m:sub>
                    </m:sSub>
                    <m:r>
                      <m:rPr>
                        <m:sty m:val="p"/>
                      </m:rPr>
                      <m:t>:</m:t>
                    </m:r>
                    <m:sSub>
                      <m:e>
                        <m:r>
                          <m:t>μ</m:t>
                        </m:r>
                      </m:e>
                      <m:sub>
                        <m:r>
                          <m:t>d</m:t>
                        </m:r>
                      </m:sub>
                    </m:sSub>
                    <m:r>
                      <m:rPr>
                        <m:sty m:val="p"/>
                      </m:rPr>
                      <m:t>=</m:t>
                    </m:r>
                    <m:r>
                      <m:t>0</m:t>
                    </m:r>
                  </m:oMath>
                </a14:m>
              </a:p>
              <a:p>
                <a:pPr lvl="0" indent="0" marL="0">
                  <a:buNone/>
                </a:pPr>
                <a14:m>
                  <m:oMath xmlns:m="http://schemas.openxmlformats.org/officeDocument/2006/math">
                    <m:sSub>
                      <m:e>
                        <m:r>
                          <m:t>H</m:t>
                        </m:r>
                      </m:e>
                      <m:sub>
                        <m:r>
                          <m:t>A</m:t>
                        </m:r>
                      </m:sub>
                    </m:sSub>
                    <m:r>
                      <m:rPr>
                        <m:sty m:val="p"/>
                      </m:rPr>
                      <m:t>:</m:t>
                    </m:r>
                    <m:sSub>
                      <m:e>
                        <m:r>
                          <m:t>μ</m:t>
                        </m:r>
                      </m:e>
                      <m:sub>
                        <m:r>
                          <m:t>d</m:t>
                        </m:r>
                      </m:sub>
                    </m:sSub>
                    <m:r>
                      <m:rPr>
                        <m:sty m:val="p"/>
                      </m:rPr>
                      <m:t>≠</m:t>
                    </m:r>
                    <m:r>
                      <m:t>0</m:t>
                    </m:r>
                  </m:oMath>
                </a14:m>
              </a:p>
            </p:txBody>
          </p:sp>
        </mc:Choice>
      </mc:AlternateContent>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Paired t-Test: Example</a:t>
                </a:r>
              </a:p>
              <a:p>
                <a:pPr lvl="0" indent="0">
                  <a:buNone/>
                </a:pPr>
                <a:r>
                  <a:rPr>
                    <a:solidFill>
                      <a:srgbClr val="4758AB"/>
                    </a:solidFill>
                    <a:latin typeface="Courier"/>
                  </a:rPr>
                  <a:t>library</a:t>
                </a:r>
                <a:r>
                  <a:rPr>
                    <a:solidFill>
                      <a:srgbClr val="003B4F"/>
                    </a:solidFill>
                    <a:latin typeface="Courier"/>
                  </a:rPr>
                  <a:t>(tidyverse)</a:t>
                </a:r>
                <a:br/>
                <a:br/>
                <a:r>
                  <a:rPr>
                    <a:solidFill>
                      <a:srgbClr val="4758AB"/>
                    </a:solidFill>
                    <a:latin typeface="Courier"/>
                  </a:rPr>
                  <a:t>set.seed</a:t>
                </a:r>
                <a:r>
                  <a:rPr>
                    <a:solidFill>
                      <a:srgbClr val="003B4F"/>
                    </a:solidFill>
                    <a:latin typeface="Courier"/>
                  </a:rPr>
                  <a:t>(</a:t>
                </a:r>
                <a:r>
                  <a:rPr>
                    <a:solidFill>
                      <a:srgbClr val="AD0000"/>
                    </a:solidFill>
                    <a:latin typeface="Courier"/>
                  </a:rPr>
                  <a:t>29</a:t>
                </a:r>
                <a:r>
                  <a:rPr>
                    <a:solidFill>
                      <a:srgbClr val="003B4F"/>
                    </a:solidFill>
                    <a:latin typeface="Courier"/>
                  </a:rPr>
                  <a:t>)</a:t>
                </a:r>
                <a:br/>
                <a:br/>
                <a:r>
                  <a:rPr>
                    <a:solidFill>
                      <a:srgbClr val="003B4F"/>
                    </a:solidFill>
                    <a:latin typeface="Courier"/>
                  </a:rPr>
                  <a:t>symptom_df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patient_id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20</a:t>
                </a:r>
                <a:r>
                  <a:rPr>
                    <a:solidFill>
                      <a:srgbClr val="003B4F"/>
                    </a:solidFill>
                    <a:latin typeface="Courier"/>
                  </a:rPr>
                  <a:t>,</a:t>
                </a:r>
                <a:br/>
                <a:br/>
                <a:r>
                  <a:rPr>
                    <a:solidFill>
                      <a:srgbClr val="003B4F"/>
                    </a:solidFill>
                    <a:latin typeface="Courier"/>
                  </a:rPr>
                  <a:t>  </a:t>
                </a:r>
                <a:r>
                  <a:rPr>
                    <a:solidFill>
                      <a:srgbClr val="657422"/>
                    </a:solidFill>
                    <a:latin typeface="Courier"/>
                  </a:rPr>
                  <a:t>symptom_before =</a:t>
                </a:r>
                <a:r>
                  <a:rPr>
                    <a:solidFill>
                      <a:srgbClr val="003B4F"/>
                    </a:solidFill>
                    <a:latin typeface="Courier"/>
                  </a:rPr>
                  <a:t> </a:t>
                </a:r>
                <a:r>
                  <a:rPr>
                    <a:solidFill>
                      <a:srgbClr val="4758AB"/>
                    </a:solidFill>
                    <a:latin typeface="Courier"/>
                  </a:rPr>
                  <a:t>c</a:t>
                </a:r>
                <a:r>
                  <a:rPr>
                    <a:solidFill>
                      <a:srgbClr val="003B4F"/>
                    </a:solidFill>
                    <a:latin typeface="Courier"/>
                  </a:rPr>
                  <a:t>(</a:t>
                </a:r>
                <a:br/>
                <a:r>
                  <a:rPr>
                    <a:solidFill>
                      <a:srgbClr val="003B4F"/>
                    </a:solidFill>
                    <a:latin typeface="Courier"/>
                  </a:rPr>
                  <a:t>    </a:t>
                </a:r>
                <a:r>
                  <a:rPr>
                    <a:solidFill>
                      <a:srgbClr val="AD0000"/>
                    </a:solidFill>
                    <a:latin typeface="Courier"/>
                  </a:rPr>
                  <a:t>24</a:t>
                </a:r>
                <a:r>
                  <a:rPr>
                    <a:solidFill>
                      <a:srgbClr val="003B4F"/>
                    </a:solidFill>
                    <a:latin typeface="Courier"/>
                  </a:rPr>
                  <a:t>, </a:t>
                </a:r>
                <a:r>
                  <a:rPr>
                    <a:solidFill>
                      <a:srgbClr val="AD0000"/>
                    </a:solidFill>
                    <a:latin typeface="Courier"/>
                  </a:rPr>
                  <a:t>26</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AD0000"/>
                    </a:solidFill>
                    <a:latin typeface="Courier"/>
                  </a:rPr>
                  <a:t>27</a:t>
                </a:r>
                <a:r>
                  <a:rPr>
                    <a:solidFill>
                      <a:srgbClr val="003B4F"/>
                    </a:solidFill>
                    <a:latin typeface="Courier"/>
                  </a:rPr>
                  <a:t>, </a:t>
                </a:r>
                <a:r>
                  <a:rPr>
                    <a:solidFill>
                      <a:srgbClr val="AD0000"/>
                    </a:solidFill>
                    <a:latin typeface="Courier"/>
                  </a:rPr>
                  <a:t>23</a:t>
                </a:r>
                <a:r>
                  <a:rPr>
                    <a:solidFill>
                      <a:srgbClr val="003B4F"/>
                    </a:solidFill>
                    <a:latin typeface="Courier"/>
                  </a:rPr>
                  <a:t>,</a:t>
                </a:r>
                <a:br/>
                <a:r>
                  <a:rPr>
                    <a:solidFill>
                      <a:srgbClr val="003B4F"/>
                    </a:solidFill>
                    <a:latin typeface="Courier"/>
                  </a:rPr>
                  <a:t>    </a:t>
                </a:r>
                <a:r>
                  <a:rPr>
                    <a:solidFill>
                      <a:srgbClr val="AD0000"/>
                    </a:solidFill>
                    <a:latin typeface="Courier"/>
                  </a:rPr>
                  <a:t>28</a:t>
                </a:r>
                <a:r>
                  <a:rPr>
                    <a:solidFill>
                      <a:srgbClr val="003B4F"/>
                    </a:solidFill>
                    <a:latin typeface="Courier"/>
                  </a:rPr>
                  <a:t>, </a:t>
                </a:r>
                <a:r>
                  <a:rPr>
                    <a:solidFill>
                      <a:srgbClr val="AD0000"/>
                    </a:solidFill>
                    <a:latin typeface="Courier"/>
                  </a:rPr>
                  <a:t>26</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AD0000"/>
                    </a:solidFill>
                    <a:latin typeface="Courier"/>
                  </a:rPr>
                  <a:t>24</a:t>
                </a:r>
                <a:r>
                  <a:rPr>
                    <a:solidFill>
                      <a:srgbClr val="003B4F"/>
                    </a:solidFill>
                    <a:latin typeface="Courier"/>
                  </a:rPr>
                  <a:t>, </a:t>
                </a:r>
                <a:r>
                  <a:rPr>
                    <a:solidFill>
                      <a:srgbClr val="AD0000"/>
                    </a:solidFill>
                    <a:latin typeface="Courier"/>
                  </a:rPr>
                  <a:t>27</a:t>
                </a:r>
                <a:r>
                  <a:rPr>
                    <a:solidFill>
                      <a:srgbClr val="003B4F"/>
                    </a:solidFill>
                    <a:latin typeface="Courier"/>
                  </a:rPr>
                  <a:t>,</a:t>
                </a:r>
                <a:br/>
                <a:r>
                  <a:rPr>
                    <a:solidFill>
                      <a:srgbClr val="003B4F"/>
                    </a:solidFill>
                    <a:latin typeface="Courier"/>
                  </a:rPr>
                  <a:t>    </a:t>
                </a:r>
                <a:r>
                  <a:rPr>
                    <a:solidFill>
                      <a:srgbClr val="AD0000"/>
                    </a:solidFill>
                    <a:latin typeface="Courier"/>
                  </a:rPr>
                  <a:t>29</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AD0000"/>
                    </a:solidFill>
                    <a:latin typeface="Courier"/>
                  </a:rPr>
                  <a:t>26</a:t>
                </a:r>
                <a:r>
                  <a:rPr>
                    <a:solidFill>
                      <a:srgbClr val="003B4F"/>
                    </a:solidFill>
                    <a:latin typeface="Courier"/>
                  </a:rPr>
                  <a:t>, </a:t>
                </a:r>
                <a:r>
                  <a:rPr>
                    <a:solidFill>
                      <a:srgbClr val="AD0000"/>
                    </a:solidFill>
                    <a:latin typeface="Courier"/>
                  </a:rPr>
                  <a:t>24</a:t>
                </a:r>
                <a:r>
                  <a:rPr>
                    <a:solidFill>
                      <a:srgbClr val="003B4F"/>
                    </a:solidFill>
                    <a:latin typeface="Courier"/>
                  </a:rPr>
                  <a:t>, </a:t>
                </a:r>
                <a:r>
                  <a:rPr>
                    <a:solidFill>
                      <a:srgbClr val="AD0000"/>
                    </a:solidFill>
                    <a:latin typeface="Courier"/>
                  </a:rPr>
                  <a:t>28</a:t>
                </a:r>
                <a:r>
                  <a:rPr>
                    <a:solidFill>
                      <a:srgbClr val="003B4F"/>
                    </a:solidFill>
                    <a:latin typeface="Courier"/>
                  </a:rPr>
                  <a:t>,</a:t>
                </a:r>
                <a:br/>
                <a:r>
                  <a:rPr>
                    <a:solidFill>
                      <a:srgbClr val="003B4F"/>
                    </a:solidFill>
                    <a:latin typeface="Courier"/>
                  </a:rPr>
                  <a:t>    </a:t>
                </a:r>
                <a:r>
                  <a:rPr>
                    <a:solidFill>
                      <a:srgbClr val="AD0000"/>
                    </a:solidFill>
                    <a:latin typeface="Courier"/>
                  </a:rPr>
                  <a:t>27</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AD0000"/>
                    </a:solidFill>
                    <a:latin typeface="Courier"/>
                  </a:rPr>
                  <a:t>26</a:t>
                </a:r>
                <a:r>
                  <a:rPr>
                    <a:solidFill>
                      <a:srgbClr val="003B4F"/>
                    </a:solidFill>
                    <a:latin typeface="Courier"/>
                  </a:rPr>
                  <a:t>, </a:t>
                </a:r>
                <a:r>
                  <a:rPr>
                    <a:solidFill>
                      <a:srgbClr val="AD0000"/>
                    </a:solidFill>
                    <a:latin typeface="Courier"/>
                  </a:rPr>
                  <a:t>24</a:t>
                </a:r>
                <a:r>
                  <a:rPr>
                    <a:solidFill>
                      <a:srgbClr val="003B4F"/>
                    </a:solidFill>
                    <a:latin typeface="Courier"/>
                  </a:rPr>
                  <a:t>, </a:t>
                </a:r>
                <a:r>
                  <a:rPr>
                    <a:solidFill>
                      <a:srgbClr val="AD0000"/>
                    </a:solidFill>
                    <a:latin typeface="Courier"/>
                  </a:rPr>
                  <a:t>27</a:t>
                </a:r>
                <a:br/>
                <a:r>
                  <a:rPr>
                    <a:solidFill>
                      <a:srgbClr val="003B4F"/>
                    </a:solidFill>
                    <a:latin typeface="Courier"/>
                  </a:rPr>
                  <a:t>  ),</a:t>
                </a:r>
                <a:br/>
                <a:br/>
                <a:r>
                  <a:rPr>
                    <a:solidFill>
                      <a:srgbClr val="003B4F"/>
                    </a:solidFill>
                    <a:latin typeface="Courier"/>
                  </a:rPr>
                  <a:t>  </a:t>
                </a:r>
                <a:r>
                  <a:rPr>
                    <a:solidFill>
                      <a:srgbClr val="657422"/>
                    </a:solidFill>
                    <a:latin typeface="Courier"/>
                  </a:rPr>
                  <a:t>symptom_after =</a:t>
                </a:r>
                <a:r>
                  <a:rPr>
                    <a:solidFill>
                      <a:srgbClr val="003B4F"/>
                    </a:solidFill>
                    <a:latin typeface="Courier"/>
                  </a:rPr>
                  <a:t> </a:t>
                </a:r>
                <a:r>
                  <a:rPr>
                    <a:solidFill>
                      <a:srgbClr val="4758AB"/>
                    </a:solidFill>
                    <a:latin typeface="Courier"/>
                  </a:rPr>
                  <a:t>c</a:t>
                </a:r>
                <a:r>
                  <a:rPr>
                    <a:solidFill>
                      <a:srgbClr val="003B4F"/>
                    </a:solidFill>
                    <a:latin typeface="Courier"/>
                  </a:rPr>
                  <a:t>(</a:t>
                </a:r>
                <a:br/>
                <a:r>
                  <a:rPr>
                    <a:solidFill>
                      <a:srgbClr val="003B4F"/>
                    </a:solidFill>
                    <a:latin typeface="Courier"/>
                  </a:rPr>
                  <a:t>    </a:t>
                </a:r>
                <a:r>
                  <a:rPr>
                    <a:solidFill>
                      <a:srgbClr val="AD0000"/>
                    </a:solidFill>
                    <a:latin typeface="Courier"/>
                  </a:rPr>
                  <a:t>18</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19</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AD0000"/>
                    </a:solidFill>
                    <a:latin typeface="Courier"/>
                  </a:rPr>
                  <a:t>18</a:t>
                </a:r>
                <a:r>
                  <a:rPr>
                    <a:solidFill>
                      <a:srgbClr val="003B4F"/>
                    </a:solidFill>
                    <a:latin typeface="Courier"/>
                  </a:rPr>
                  <a:t>,</a:t>
                </a:r>
                <a:br/>
                <a:r>
                  <a:rPr>
                    <a:solidFill>
                      <a:srgbClr val="003B4F"/>
                    </a:solidFill>
                    <a:latin typeface="Courier"/>
                  </a:rPr>
                  <a:t>    </a:t>
                </a:r>
                <a:r>
                  <a:rPr>
                    <a:solidFill>
                      <a:srgbClr val="AD0000"/>
                    </a:solidFill>
                    <a:latin typeface="Courier"/>
                  </a:rPr>
                  <a:t>22</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19</a:t>
                </a:r>
                <a:r>
                  <a:rPr>
                    <a:solidFill>
                      <a:srgbClr val="003B4F"/>
                    </a:solidFill>
                    <a:latin typeface="Courier"/>
                  </a:rPr>
                  <a:t>, </a:t>
                </a:r>
                <a:r>
                  <a:rPr>
                    <a:solidFill>
                      <a:srgbClr val="AD0000"/>
                    </a:solidFill>
                    <a:latin typeface="Courier"/>
                  </a:rPr>
                  <a:t>18</a:t>
                </a:r>
                <a:r>
                  <a:rPr>
                    <a:solidFill>
                      <a:srgbClr val="003B4F"/>
                    </a:solidFill>
                    <a:latin typeface="Courier"/>
                  </a:rPr>
                  <a:t>, </a:t>
                </a:r>
                <a:r>
                  <a:rPr>
                    <a:solidFill>
                      <a:srgbClr val="AD0000"/>
                    </a:solidFill>
                    <a:latin typeface="Courier"/>
                  </a:rPr>
                  <a:t>21</a:t>
                </a:r>
                <a:r>
                  <a:rPr>
                    <a:solidFill>
                      <a:srgbClr val="003B4F"/>
                    </a:solidFill>
                    <a:latin typeface="Courier"/>
                  </a:rPr>
                  <a:t>,</a:t>
                </a:r>
                <a:br/>
                <a:r>
                  <a:rPr>
                    <a:solidFill>
                      <a:srgbClr val="003B4F"/>
                    </a:solidFill>
                    <a:latin typeface="Courier"/>
                  </a:rPr>
                  <a:t>    </a:t>
                </a:r>
                <a:r>
                  <a:rPr>
                    <a:solidFill>
                      <a:srgbClr val="AD0000"/>
                    </a:solidFill>
                    <a:latin typeface="Courier"/>
                  </a:rPr>
                  <a:t>23</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AD0000"/>
                    </a:solidFill>
                    <a:latin typeface="Courier"/>
                  </a:rPr>
                  <a:t>18</a:t>
                </a:r>
                <a:r>
                  <a:rPr>
                    <a:solidFill>
                      <a:srgbClr val="003B4F"/>
                    </a:solidFill>
                    <a:latin typeface="Courier"/>
                  </a:rPr>
                  <a:t>, </a:t>
                </a:r>
                <a:r>
                  <a:rPr>
                    <a:solidFill>
                      <a:srgbClr val="AD0000"/>
                    </a:solidFill>
                    <a:latin typeface="Courier"/>
                  </a:rPr>
                  <a:t>22</a:t>
                </a:r>
                <a:r>
                  <a:rPr>
                    <a:solidFill>
                      <a:srgbClr val="003B4F"/>
                    </a:solidFill>
                    <a:latin typeface="Courier"/>
                  </a:rPr>
                  <a:t>,</a:t>
                </a:r>
                <a:b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AD0000"/>
                    </a:solidFill>
                    <a:latin typeface="Courier"/>
                  </a:rPr>
                  <a:t>19</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18</a:t>
                </a:r>
                <a:r>
                  <a:rPr>
                    <a:solidFill>
                      <a:srgbClr val="003B4F"/>
                    </a:solidFill>
                    <a:latin typeface="Courier"/>
                  </a:rPr>
                  <a:t>, </a:t>
                </a:r>
                <a:r>
                  <a:rPr>
                    <a:solidFill>
                      <a:srgbClr val="AD0000"/>
                    </a:solidFill>
                    <a:latin typeface="Courier"/>
                  </a:rPr>
                  <a:t>21</a:t>
                </a:r>
                <a:br/>
                <a:r>
                  <a:rPr>
                    <a:solidFill>
                      <a:srgbClr val="003B4F"/>
                    </a:solidFill>
                    <a:latin typeface="Courier"/>
                  </a:rPr>
                  <a:t>  )</a:t>
                </a:r>
                <a:br/>
                <a:r>
                  <a:rPr>
                    <a:solidFill>
                      <a:srgbClr val="003B4F"/>
                    </a:solidFill>
                    <a:latin typeface="Courier"/>
                  </a:rPr>
                  <a:t>)</a:t>
                </a:r>
                <a:br/>
                <a:br/>
                <a:r>
                  <a:rPr>
                    <a:solidFill>
                      <a:srgbClr val="4758AB"/>
                    </a:solidFill>
                    <a:latin typeface="Courier"/>
                  </a:rPr>
                  <a:t>head</a:t>
                </a:r>
                <a:r>
                  <a:rPr>
                    <a:solidFill>
                      <a:srgbClr val="003B4F"/>
                    </a:solidFill>
                    <a:latin typeface="Courier"/>
                  </a:rPr>
                  <a:t>(symptom_df, </a:t>
                </a:r>
                <a:r>
                  <a:rPr>
                    <a:solidFill>
                      <a:srgbClr val="AD0000"/>
                    </a:solidFill>
                    <a:latin typeface="Courier"/>
                  </a:rPr>
                  <a:t>5</a:t>
                </a:r>
                <a:r>
                  <a:rPr>
                    <a:solidFill>
                      <a:srgbClr val="003B4F"/>
                    </a:solidFill>
                    <a:latin typeface="Courier"/>
                  </a:rPr>
                  <a:t>)</a:t>
                </a:r>
              </a:p>
              <a:p>
                <a:pPr lvl="0" indent="0">
                  <a:buNone/>
                </a:pPr>
                <a:r>
                  <a:rPr>
                    <a:latin typeface="Courier"/>
                  </a:rPr>
                  <a:t># A tibble: 5 × 3
  patient_id symptom_before symptom_after
       &lt;int&gt;          &lt;dbl&gt;         &lt;dbl&gt;
1          1             24            18
2          2             26            20
3          3             25            19
4          4             27            21
5          5             23            18</a:t>
                </a:r>
              </a:p>
              <a:p>
                <a:pPr lvl="0" indent="0" marL="0">
                  <a:buNone/>
                </a:pPr>
                <a:r>
                  <a:rPr/>
                  <a:t>Perform Paired t Test</a:t>
                </a:r>
              </a:p>
              <a:p>
                <a:pPr lvl="0" indent="0">
                  <a:buNone/>
                </a:pPr>
                <a:r>
                  <a:rPr>
                    <a:solidFill>
                      <a:srgbClr val="003B4F"/>
                    </a:solidFill>
                    <a:latin typeface="Courier"/>
                  </a:rPr>
                  <a:t>t_result &lt;- </a:t>
                </a:r>
                <a:r>
                  <a:rPr>
                    <a:solidFill>
                      <a:srgbClr val="4758AB"/>
                    </a:solidFill>
                    <a:latin typeface="Courier"/>
                  </a:rPr>
                  <a:t>t.test</a:t>
                </a:r>
                <a:r>
                  <a:rPr>
                    <a:solidFill>
                      <a:srgbClr val="003B4F"/>
                    </a:solidFill>
                    <a:latin typeface="Courier"/>
                  </a:rPr>
                  <a:t>(</a:t>
                </a:r>
                <a:br/>
                <a:r>
                  <a:rPr>
                    <a:solidFill>
                      <a:srgbClr val="003B4F"/>
                    </a:solidFill>
                    <a:latin typeface="Courier"/>
                  </a:rPr>
                  <a:t>  symptom_df</a:t>
                </a:r>
                <a:r>
                  <a:rPr>
                    <a:solidFill>
                      <a:srgbClr val="5E5E5E"/>
                    </a:solidFill>
                    <a:latin typeface="Courier"/>
                  </a:rPr>
                  <a:t>$</a:t>
                </a:r>
                <a:r>
                  <a:rPr>
                    <a:solidFill>
                      <a:srgbClr val="003B4F"/>
                    </a:solidFill>
                    <a:latin typeface="Courier"/>
                  </a:rPr>
                  <a:t>symptom_before,</a:t>
                </a:r>
                <a:br/>
                <a:r>
                  <a:rPr>
                    <a:solidFill>
                      <a:srgbClr val="003B4F"/>
                    </a:solidFill>
                    <a:latin typeface="Courier"/>
                  </a:rPr>
                  <a:t>  symptom_df</a:t>
                </a:r>
                <a:r>
                  <a:rPr>
                    <a:solidFill>
                      <a:srgbClr val="5E5E5E"/>
                    </a:solidFill>
                    <a:latin typeface="Courier"/>
                  </a:rPr>
                  <a:t>$</a:t>
                </a:r>
                <a:r>
                  <a:rPr>
                    <a:solidFill>
                      <a:srgbClr val="003B4F"/>
                    </a:solidFill>
                    <a:latin typeface="Courier"/>
                  </a:rPr>
                  <a:t>symptom_after,</a:t>
                </a:r>
                <a:br/>
                <a:r>
                  <a:rPr>
                    <a:solidFill>
                      <a:srgbClr val="003B4F"/>
                    </a:solidFill>
                    <a:latin typeface="Courier"/>
                  </a:rPr>
                  <a:t>  </a:t>
                </a:r>
                <a:r>
                  <a:rPr>
                    <a:solidFill>
                      <a:srgbClr val="657422"/>
                    </a:solidFill>
                    <a:latin typeface="Courier"/>
                  </a:rPr>
                  <a:t>paired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br/>
                <a:r>
                  <a:rPr>
                    <a:solidFill>
                      <a:srgbClr val="003B4F"/>
                    </a:solidFill>
                    <a:latin typeface="Courier"/>
                  </a:rPr>
                  <a:t>t_result</a:t>
                </a:r>
              </a:p>
              <a:p>
                <a:pPr lvl="0" indent="0">
                  <a:buNone/>
                </a:pPr>
                <a:r>
                  <a:rPr>
                    <a:latin typeface="Courier"/>
                  </a:rPr>
                  <a:t>
    Paired t-test
data:  symptom_df$symptom_before and symptom_df$symptom_after
t = 71.413, df = 19, p-value &lt; 2.2e-16
alternative hypothesis: true mean difference is not equal to 0
95 percent confidence interval:
 5.678544 6.021456
sample estimates:
mean difference 
           5.85 </a:t>
                </a:r>
              </a:p>
              <a:p>
                <a:pPr lvl="0" indent="0" marL="0">
                  <a:buNone/>
                </a:pPr>
                <a:r>
                  <a:rPr b="1"/>
                  <a:t>Code Explanation</a:t>
                </a:r>
              </a:p>
              <a:p>
                <a:pPr lvl="0"/>
                <a:r>
                  <a:rPr>
                    <a:latin typeface="Courier"/>
                  </a:rPr>
                  <a:t>t.test()</a:t>
                </a:r>
                <a:r>
                  <a:rPr/>
                  <a:t> : performs a paired t test</a:t>
                </a:r>
              </a:p>
              <a:p>
                <a:pPr lvl="0"/>
                <a:r>
                  <a:rPr>
                    <a:latin typeface="Courier"/>
                  </a:rPr>
                  <a:t>symptom_before</a:t>
                </a:r>
                <a:r>
                  <a:rPr/>
                  <a:t> and </a:t>
                </a:r>
                <a:r>
                  <a:rPr>
                    <a:latin typeface="Courier"/>
                  </a:rPr>
                  <a:t>symptom_after</a:t>
                </a:r>
                <a:r>
                  <a:rPr/>
                  <a:t> contain measurements collected from the same patients</a:t>
                </a:r>
              </a:p>
              <a:p>
                <a:pPr lvl="0"/>
                <a:r>
                  <a:rPr>
                    <a:latin typeface="Courier"/>
                  </a:rPr>
                  <a:t>paired = TRUE</a:t>
                </a:r>
                <a:r>
                  <a:rPr/>
                  <a:t> : tells R to analyze within-patient differences rather than treating groups as independent</a:t>
                </a:r>
              </a:p>
              <a:p>
                <a:pPr lvl="0"/>
                <a:r>
                  <a:rPr/>
                  <a:t>paired differences are defined as:</a:t>
                </a:r>
              </a:p>
              <a:p>
                <a:pPr lvl="0" indent="0" marL="0">
                  <a:buNone/>
                </a:pPr>
                <a14:m>
                  <m:oMath xmlns:m="http://schemas.openxmlformats.org/officeDocument/2006/math">
                    <m:r>
                      <m:t>d</m:t>
                    </m:r>
                    <m:r>
                      <m:rPr>
                        <m:sty m:val="p"/>
                      </m:rPr>
                      <m:t>=</m:t>
                    </m:r>
                    <m:r>
                      <m:rPr>
                        <m:nor/>
                        <m:sty m:val="p"/>
                      </m:rPr>
                      <m:t>before</m:t>
                    </m:r>
                    <m:r>
                      <m:rPr>
                        <m:sty m:val="p"/>
                      </m:rPr>
                      <m:t>−</m:t>
                    </m:r>
                    <m:r>
                      <m:rPr>
                        <m:nor/>
                        <m:sty m:val="p"/>
                      </m:rPr>
                      <m:t>after</m:t>
                    </m:r>
                  </m:oMath>
                </a14:m>
              </a:p>
              <a:p>
                <a:pPr lvl="0"/>
                <a:r>
                  <a:rPr/>
                  <a:t>null hypothesis assumes the population mean paired difference equals 0:</a:t>
                </a:r>
              </a:p>
              <a:p>
                <a:pPr lvl="0" indent="0" marL="0">
                  <a:buNone/>
                </a:pPr>
                <a14:m>
                  <m:oMath xmlns:m="http://schemas.openxmlformats.org/officeDocument/2006/math">
                    <m:sSub>
                      <m:e>
                        <m:r>
                          <m:t>H</m:t>
                        </m:r>
                      </m:e>
                      <m:sub>
                        <m:r>
                          <m:t>0</m:t>
                        </m:r>
                      </m:sub>
                    </m:sSub>
                    <m:r>
                      <m:rPr>
                        <m:sty m:val="p"/>
                      </m:rPr>
                      <m:t>:</m:t>
                    </m:r>
                    <m:sSub>
                      <m:e>
                        <m:r>
                          <m:t>μ</m:t>
                        </m:r>
                      </m:e>
                      <m:sub>
                        <m:r>
                          <m:t>d</m:t>
                        </m:r>
                      </m:sub>
                    </m:sSub>
                    <m:r>
                      <m:rPr>
                        <m:sty m:val="p"/>
                      </m:rPr>
                      <m:t>=</m:t>
                    </m:r>
                    <m:r>
                      <m:t>0</m:t>
                    </m:r>
                  </m:oMath>
                </a14:m>
              </a:p>
              <a:p>
                <a:pPr lvl="0"/>
                <a:r>
                  <a:rPr>
                    <a:latin typeface="Courier"/>
                  </a:rPr>
                  <a:t>alternative = "two.sided"</a:t>
                </a:r>
                <a:r>
                  <a:rPr/>
                  <a:t> : specifies a two-tailed test:</a:t>
                </a:r>
              </a:p>
              <a:p>
                <a:pPr lvl="0" indent="0" marL="0">
                  <a:buNone/>
                </a:pPr>
                <a14:m>
                  <m:oMath xmlns:m="http://schemas.openxmlformats.org/officeDocument/2006/math">
                    <m:sSub>
                      <m:e>
                        <m:r>
                          <m:t>H</m:t>
                        </m:r>
                      </m:e>
                      <m:sub>
                        <m:r>
                          <m:t>A</m:t>
                        </m:r>
                      </m:sub>
                    </m:sSub>
                    <m:r>
                      <m:rPr>
                        <m:sty m:val="p"/>
                      </m:rPr>
                      <m:t>:</m:t>
                    </m:r>
                    <m:sSub>
                      <m:e>
                        <m:r>
                          <m:t>μ</m:t>
                        </m:r>
                      </m:e>
                      <m:sub>
                        <m:r>
                          <m:t>d</m:t>
                        </m:r>
                      </m:sub>
                    </m:sSub>
                    <m:r>
                      <m:rPr>
                        <m:sty m:val="p"/>
                      </m:rPr>
                      <m:t>≠</m:t>
                    </m:r>
                    <m:r>
                      <m:t>0</m:t>
                    </m:r>
                  </m:oMath>
                </a14:m>
              </a:p>
              <a:p>
                <a:pPr lvl="0"/>
                <a:r>
                  <a:rPr/>
                  <a:t>p-value is calculated using both tails of the t distribution</a:t>
                </a:r>
              </a:p>
              <a:p>
                <a:pPr lvl="0"/>
                <a:r>
                  <a:rPr>
                    <a:latin typeface="Courier"/>
                  </a:rPr>
                  <a:t>t_result</a:t>
                </a:r>
                <a:r>
                  <a:rPr/>
                  <a:t> stores the test results, including the t-statistic, degrees of freedom, p-value, confidence interval, and mean paired difference</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Perform Paired t Test</a:t>
                </a:r>
              </a:p>
              <a:p>
                <a:pPr lvl="0" indent="0">
                  <a:buNone/>
                </a:pPr>
                <a:r>
                  <a:rPr>
                    <a:solidFill>
                      <a:srgbClr val="003B4F"/>
                    </a:solidFill>
                    <a:latin typeface="Courier"/>
                  </a:rPr>
                  <a:t>t_result &lt;- </a:t>
                </a:r>
                <a:r>
                  <a:rPr>
                    <a:solidFill>
                      <a:srgbClr val="4758AB"/>
                    </a:solidFill>
                    <a:latin typeface="Courier"/>
                  </a:rPr>
                  <a:t>t.test</a:t>
                </a:r>
                <a:r>
                  <a:rPr>
                    <a:solidFill>
                      <a:srgbClr val="003B4F"/>
                    </a:solidFill>
                    <a:latin typeface="Courier"/>
                  </a:rPr>
                  <a:t>(</a:t>
                </a:r>
                <a:br/>
                <a:r>
                  <a:rPr>
                    <a:solidFill>
                      <a:srgbClr val="003B4F"/>
                    </a:solidFill>
                    <a:latin typeface="Courier"/>
                  </a:rPr>
                  <a:t>  symptom_df</a:t>
                </a:r>
                <a:r>
                  <a:rPr>
                    <a:solidFill>
                      <a:srgbClr val="5E5E5E"/>
                    </a:solidFill>
                    <a:latin typeface="Courier"/>
                  </a:rPr>
                  <a:t>$</a:t>
                </a:r>
                <a:r>
                  <a:rPr>
                    <a:solidFill>
                      <a:srgbClr val="003B4F"/>
                    </a:solidFill>
                    <a:latin typeface="Courier"/>
                  </a:rPr>
                  <a:t>symptom_before,</a:t>
                </a:r>
                <a:br/>
                <a:r>
                  <a:rPr>
                    <a:solidFill>
                      <a:srgbClr val="003B4F"/>
                    </a:solidFill>
                    <a:latin typeface="Courier"/>
                  </a:rPr>
                  <a:t>  symptom_df</a:t>
                </a:r>
                <a:r>
                  <a:rPr>
                    <a:solidFill>
                      <a:srgbClr val="5E5E5E"/>
                    </a:solidFill>
                    <a:latin typeface="Courier"/>
                  </a:rPr>
                  <a:t>$</a:t>
                </a:r>
                <a:r>
                  <a:rPr>
                    <a:solidFill>
                      <a:srgbClr val="003B4F"/>
                    </a:solidFill>
                    <a:latin typeface="Courier"/>
                  </a:rPr>
                  <a:t>symptom_after,</a:t>
                </a:r>
                <a:br/>
                <a:r>
                  <a:rPr>
                    <a:solidFill>
                      <a:srgbClr val="003B4F"/>
                    </a:solidFill>
                    <a:latin typeface="Courier"/>
                  </a:rPr>
                  <a:t>  </a:t>
                </a:r>
                <a:r>
                  <a:rPr>
                    <a:solidFill>
                      <a:srgbClr val="657422"/>
                    </a:solidFill>
                    <a:latin typeface="Courier"/>
                  </a:rPr>
                  <a:t>paired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br/>
                <a:r>
                  <a:rPr>
                    <a:solidFill>
                      <a:srgbClr val="003B4F"/>
                    </a:solidFill>
                    <a:latin typeface="Courier"/>
                  </a:rPr>
                  <a:t>t_result</a:t>
                </a:r>
              </a:p>
              <a:p>
                <a:pPr lvl="0" indent="0">
                  <a:buNone/>
                </a:pPr>
                <a:r>
                  <a:rPr>
                    <a:latin typeface="Courier"/>
                  </a:rPr>
                  <a:t>
    Paired t-test
data:  symptom_df$symptom_before and symptom_df$symptom_after
t = 71.413, df = 19, p-value &lt; 2.2e-16
alternative hypothesis: true mean difference is not equal to 0
95 percent confidence interval:
 5.678544 6.021456
sample estimates:
mean difference 
           5.85 </a:t>
                </a:r>
              </a:p>
              <a:p>
                <a:pPr lvl="0" indent="0" marL="0">
                  <a:buNone/>
                </a:pPr>
                <a:r>
                  <a:rPr b="1"/>
                  <a:t>Interpretation</a:t>
                </a:r>
              </a:p>
              <a:p>
                <a:pPr lvl="0"/>
                <a:r>
                  <a:rPr/>
                  <a:t>average within-patient symptom score change is approximately 5.85 points</a:t>
                </a:r>
              </a:p>
              <a:p>
                <a:pPr lvl="0"/>
                <a:r>
                  <a:rPr/>
                  <a:t>t-statistic [</a:t>
                </a:r>
                <a14:m>
                  <m:oMath xmlns:m="http://schemas.openxmlformats.org/officeDocument/2006/math">
                    <m:r>
                      <m:t>t</m:t>
                    </m:r>
                    <m:r>
                      <m:rPr>
                        <m:sty m:val="p"/>
                      </m:rPr>
                      <m:t>=</m:t>
                    </m:r>
                    <m:r>
                      <m:t>71.413</m:t>
                    </m:r>
                  </m:oMath>
                </a14:m>
                <a:r>
                  <a:rPr/>
                  <a:t>] indicates the observed mean paired difference is approximately 71 estimated standard errors away from the null hypothesis value of 0</a:t>
                </a:r>
              </a:p>
              <a:p>
                <a:pPr lvl="0"/>
                <a:r>
                  <a:rPr/>
                  <a:t>positive t-statistic indicates symptom scores were generally higher before treatment than after treatment</a:t>
                </a:r>
              </a:p>
              <a:p>
                <a:pPr lvl="0"/>
                <a:r>
                  <a:rPr/>
                  <a:t>because the alternative hypothesis is </a:t>
                </a:r>
                <a14:m>
                  <m:oMath xmlns:m="http://schemas.openxmlformats.org/officeDocument/2006/math">
                    <m:sSub>
                      <m:e>
                        <m:r>
                          <m:t>H</m:t>
                        </m:r>
                      </m:e>
                      <m:sub>
                        <m:r>
                          <m:t>A</m:t>
                        </m:r>
                      </m:sub>
                    </m:sSub>
                    <m:r>
                      <m:rPr>
                        <m:sty m:val="p"/>
                      </m:rPr>
                      <m:t>:</m:t>
                    </m:r>
                    <m:sSub>
                      <m:e>
                        <m:r>
                          <m:t>μ</m:t>
                        </m:r>
                      </m:e>
                      <m:sub>
                        <m:r>
                          <m:t>d</m:t>
                        </m:r>
                      </m:sub>
                    </m:sSub>
                    <m:r>
                      <m:rPr>
                        <m:sty m:val="p"/>
                      </m:rPr>
                      <m:t>≠</m:t>
                    </m:r>
                    <m:r>
                      <m:t>0</m:t>
                    </m:r>
                  </m:oMath>
                </a14:m>
                <a:r>
                  <a:rPr/>
                  <a:t>, the p-value is calculated using both tails of the t distribution</a:t>
                </a:r>
              </a:p>
              <a:p>
                <a:pPr lvl="0"/>
                <a:r>
                  <a:rPr/>
                  <a:t>p-value </a:t>
                </a:r>
                <a14:m>
                  <m:oMath xmlns:m="http://schemas.openxmlformats.org/officeDocument/2006/math">
                    <m:r>
                      <m:rPr>
                        <m:sty m:val="p"/>
                      </m:rPr>
                      <m:t>&lt;</m:t>
                    </m:r>
                    <m:r>
                      <m:t>2.2</m:t>
                    </m:r>
                    <m:r>
                      <m:rPr>
                        <m:sty m:val="p"/>
                      </m:rPr>
                      <m:t>×</m:t>
                    </m:r>
                    <m:sSup>
                      <m:e>
                        <m:r>
                          <m:t>10</m:t>
                        </m:r>
                      </m:e>
                      <m:sup>
                        <m:r>
                          <m:rPr>
                            <m:sty m:val="p"/>
                          </m:rPr>
                          <m:t>−</m:t>
                        </m:r>
                        <m:r>
                          <m:t>16</m:t>
                        </m:r>
                      </m:sup>
                    </m:sSup>
                  </m:oMath>
                </a14:m>
                <a:r>
                  <a:rPr/>
                  <a:t> </a:t>
                </a:r>
                <a14:m>
                  <m:oMath xmlns:m="http://schemas.openxmlformats.org/officeDocument/2006/math">
                    <m:r>
                      <m:rPr>
                        <m:sty m:val="p"/>
                      </m:rPr>
                      <m:t>→</m:t>
                    </m:r>
                  </m:oMath>
                </a14:m>
                <a:r>
                  <a:rPr/>
                  <a:t> indicates extremely strong evidence that the population mean within-patient symptom change differs from 0</a:t>
                </a:r>
              </a:p>
              <a:p>
                <a:pPr lvl="0"/>
                <a:r>
                  <a:rPr/>
                  <a:t>95% confidence interval [5.68, 6.02] indicates the population mean symptom score reduction is estimated to be between approximately 5.7 and 6.0 points</a:t>
                </a:r>
              </a:p>
            </p:txBody>
          </p:sp>
        </mc:Choice>
      </mc:AlternateContent>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Paired t-Test: Example</a:t>
                </a:r>
              </a:p>
              <a:p>
                <a:pPr lvl="0" indent="0">
                  <a:buNone/>
                </a:pPr>
                <a:r>
                  <a:rPr>
                    <a:solidFill>
                      <a:srgbClr val="4758AB"/>
                    </a:solidFill>
                    <a:latin typeface="Courier"/>
                  </a:rPr>
                  <a:t>library</a:t>
                </a:r>
                <a:r>
                  <a:rPr>
                    <a:solidFill>
                      <a:srgbClr val="003B4F"/>
                    </a:solidFill>
                    <a:latin typeface="Courier"/>
                  </a:rPr>
                  <a:t>(tidyverse)</a:t>
                </a:r>
                <a:br/>
                <a:br/>
                <a:r>
                  <a:rPr>
                    <a:solidFill>
                      <a:srgbClr val="003B4F"/>
                    </a:solidFill>
                    <a:latin typeface="Courier"/>
                  </a:rPr>
                  <a:t>t_stat &lt;- </a:t>
                </a:r>
                <a:r>
                  <a:rPr>
                    <a:solidFill>
                      <a:srgbClr val="AD0000"/>
                    </a:solidFill>
                    <a:latin typeface="Courier"/>
                  </a:rPr>
                  <a:t>18.24</a:t>
                </a:r>
                <a:br/>
                <a:r>
                  <a:rPr>
                    <a:solidFill>
                      <a:srgbClr val="003B4F"/>
                    </a:solidFill>
                    <a:latin typeface="Courier"/>
                  </a:rPr>
                  <a:t>df &lt;- </a:t>
                </a:r>
                <a:r>
                  <a:rPr>
                    <a:solidFill>
                      <a:srgbClr val="AD0000"/>
                    </a:solidFill>
                    <a:latin typeface="Courier"/>
                  </a:rPr>
                  <a:t>19</a:t>
                </a:r>
                <a:br/>
                <a:br/>
                <a:r>
                  <a:rPr>
                    <a:solidFill>
                      <a:srgbClr val="003B4F"/>
                    </a:solidFill>
                    <a:latin typeface="Courier"/>
                  </a:rPr>
                  <a:t>p_value &lt;-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pt</a:t>
                </a:r>
                <a:r>
                  <a:rPr>
                    <a:solidFill>
                      <a:srgbClr val="003B4F"/>
                    </a:solidFill>
                    <a:latin typeface="Courier"/>
                  </a:rPr>
                  <a:t>(</a:t>
                </a:r>
                <a:br/>
                <a:r>
                  <a:rPr>
                    <a:solidFill>
                      <a:srgbClr val="003B4F"/>
                    </a:solidFill>
                    <a:latin typeface="Courier"/>
                  </a:rPr>
                  <a:t>  </a:t>
                </a:r>
                <a:r>
                  <a:rPr>
                    <a:solidFill>
                      <a:srgbClr val="4758AB"/>
                    </a:solidFill>
                    <a:latin typeface="Courier"/>
                  </a:rPr>
                  <a:t>abs</a:t>
                </a:r>
                <a:r>
                  <a:rPr>
                    <a:solidFill>
                      <a:srgbClr val="003B4F"/>
                    </a:solidFill>
                    <a:latin typeface="Courier"/>
                  </a:rPr>
                  <a:t>(t_stat),</a:t>
                </a:r>
                <a:br/>
                <a:r>
                  <a:rPr>
                    <a:solidFill>
                      <a:srgbClr val="003B4F"/>
                    </a:solidFill>
                    <a:latin typeface="Courier"/>
                  </a:rPr>
                  <a:t>  </a:t>
                </a:r>
                <a:r>
                  <a:rPr>
                    <a:solidFill>
                      <a:srgbClr val="657422"/>
                    </a:solidFill>
                    <a:latin typeface="Courier"/>
                  </a:rPr>
                  <a:t>df =</a:t>
                </a:r>
                <a:r>
                  <a:rPr>
                    <a:solidFill>
                      <a:srgbClr val="003B4F"/>
                    </a:solidFill>
                    <a:latin typeface="Courier"/>
                  </a:rPr>
                  <a:t> df,</a:t>
                </a:r>
                <a:br/>
                <a:r>
                  <a:rPr>
                    <a:solidFill>
                      <a:srgbClr val="003B4F"/>
                    </a:solidFill>
                    <a:latin typeface="Courier"/>
                  </a:rPr>
                  <a:t>  </a:t>
                </a:r>
                <a:r>
                  <a:rPr>
                    <a:solidFill>
                      <a:srgbClr val="657422"/>
                    </a:solidFill>
                    <a:latin typeface="Courier"/>
                  </a:rPr>
                  <a:t>lower.tail =</a:t>
                </a:r>
                <a:r>
                  <a:rPr>
                    <a:solidFill>
                      <a:srgbClr val="003B4F"/>
                    </a:solidFill>
                    <a:latin typeface="Courier"/>
                  </a:rPr>
                  <a:t> </a:t>
                </a:r>
                <a:r>
                  <a:rPr>
                    <a:solidFill>
                      <a:srgbClr val="8F5902"/>
                    </a:solidFill>
                    <a:latin typeface="Courier"/>
                  </a:rPr>
                  <a:t>FALSE</a:t>
                </a:r>
                <a:br/>
                <a:r>
                  <a:rPr>
                    <a:solidFill>
                      <a:srgbClr val="003B4F"/>
                    </a:solidFill>
                    <a:latin typeface="Courier"/>
                  </a:rPr>
                  <a:t>)</a:t>
                </a:r>
                <a:br/>
                <a:br/>
                <a:r>
                  <a:rPr>
                    <a:solidFill>
                      <a:srgbClr val="003B4F"/>
                    </a:solidFill>
                    <a:latin typeface="Courier"/>
                  </a:rPr>
                  <a:t>plot_df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5E5E5E"/>
                    </a:solidFill>
                    <a:latin typeface="Courier"/>
                  </a:rPr>
                  <a:t>-</a:t>
                </a:r>
                <a:r>
                  <a:rPr>
                    <a:solidFill>
                      <a:srgbClr val="AD0000"/>
                    </a:solidFill>
                    <a:latin typeface="Courier"/>
                  </a:rPr>
                  <a:t>22</a:t>
                </a:r>
                <a:r>
                  <a:rPr>
                    <a:solidFill>
                      <a:srgbClr val="003B4F"/>
                    </a:solidFill>
                    <a:latin typeface="Courier"/>
                  </a:rPr>
                  <a:t>, </a:t>
                </a:r>
                <a:r>
                  <a:rPr>
                    <a:solidFill>
                      <a:srgbClr val="AD0000"/>
                    </a:solidFill>
                    <a:latin typeface="Courier"/>
                  </a:rPr>
                  <a:t>22</a:t>
                </a:r>
                <a:r>
                  <a:rPr>
                    <a:solidFill>
                      <a:srgbClr val="003B4F"/>
                    </a:solidFill>
                    <a:latin typeface="Courier"/>
                  </a:rPr>
                  <a:t>, </a:t>
                </a:r>
                <a:r>
                  <a:rPr>
                    <a:solidFill>
                      <a:srgbClr val="657422"/>
                    </a:solidFill>
                    <a:latin typeface="Courier"/>
                  </a:rPr>
                  <a:t>length.out =</a:t>
                </a:r>
                <a:r>
                  <a:rPr>
                    <a:solidFill>
                      <a:srgbClr val="003B4F"/>
                    </a:solidFill>
                    <a:latin typeface="Courier"/>
                  </a:rPr>
                  <a:t> </a:t>
                </a:r>
                <a:r>
                  <a:rPr>
                    <a:solidFill>
                      <a:srgbClr val="AD0000"/>
                    </a:solidFill>
                    <a:latin typeface="Courier"/>
                  </a:rPr>
                  <a:t>2000</a:t>
                </a:r>
                <a:r>
                  <a:rPr>
                    <a:solidFill>
                      <a:srgbClr val="003B4F"/>
                    </a:solidFill>
                    <a:latin typeface="Courier"/>
                  </a:rPr>
                  <a:t>),</a:t>
                </a:r>
                <a:br/>
                <a:r>
                  <a:rPr>
                    <a:solidFill>
                      <a:srgbClr val="003B4F"/>
                    </a:solidFill>
                    <a:latin typeface="Courier"/>
                  </a:rPr>
                  <a:t>  </a:t>
                </a:r>
                <a:r>
                  <a:rPr>
                    <a:solidFill>
                      <a:srgbClr val="657422"/>
                    </a:solidFill>
                    <a:latin typeface="Courier"/>
                  </a:rPr>
                  <a:t>density =</a:t>
                </a:r>
                <a:r>
                  <a:rPr>
                    <a:solidFill>
                      <a:srgbClr val="003B4F"/>
                    </a:solidFill>
                    <a:latin typeface="Courier"/>
                  </a:rPr>
                  <a:t> </a:t>
                </a:r>
                <a:r>
                  <a:rPr>
                    <a:solidFill>
                      <a:srgbClr val="4758AB"/>
                    </a:solidFill>
                    <a:latin typeface="Courier"/>
                  </a:rPr>
                  <a:t>dt</a:t>
                </a:r>
                <a:r>
                  <a:rPr>
                    <a:solidFill>
                      <a:srgbClr val="003B4F"/>
                    </a:solidFill>
                    <a:latin typeface="Courier"/>
                  </a:rPr>
                  <a:t>(x, </a:t>
                </a:r>
                <a:r>
                  <a:rPr>
                    <a:solidFill>
                      <a:srgbClr val="657422"/>
                    </a:solidFill>
                    <a:latin typeface="Courier"/>
                  </a:rPr>
                  <a:t>df =</a:t>
                </a:r>
                <a:r>
                  <a:rPr>
                    <a:solidFill>
                      <a:srgbClr val="003B4F"/>
                    </a:solidFill>
                    <a:latin typeface="Courier"/>
                  </a:rPr>
                  <a:t> df)</a:t>
                </a:r>
                <a:br/>
                <a:r>
                  <a:rPr>
                    <a:solidFill>
                      <a:srgbClr val="003B4F"/>
                    </a:solidFill>
                    <a:latin typeface="Courier"/>
                  </a:rPr>
                  <a:t>)</a:t>
                </a:r>
                <a:br/>
                <a:br/>
                <a:r>
                  <a:rPr>
                    <a:solidFill>
                      <a:srgbClr val="003B4F"/>
                    </a:solidFill>
                    <a:latin typeface="Courier"/>
                  </a:rPr>
                  <a:t>shade_df &lt;- plot_df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(x </a:t>
                </a:r>
                <a:r>
                  <a:rPr>
                    <a:solidFill>
                      <a:srgbClr val="5E5E5E"/>
                    </a:solidFill>
                    <a:latin typeface="Courier"/>
                  </a:rPr>
                  <a:t>&lt;=</a:t>
                </a:r>
                <a:r>
                  <a:rPr>
                    <a:solidFill>
                      <a:srgbClr val="003B4F"/>
                    </a:solidFill>
                    <a:latin typeface="Courier"/>
                  </a:rPr>
                  <a:t> </a:t>
                </a:r>
                <a:r>
                  <a:rPr>
                    <a:solidFill>
                      <a:srgbClr val="5E5E5E"/>
                    </a:solidFill>
                    <a:latin typeface="Courier"/>
                  </a:rPr>
                  <a:t>-</a:t>
                </a:r>
                <a:r>
                  <a:rPr>
                    <a:solidFill>
                      <a:srgbClr val="4758AB"/>
                    </a:solidFill>
                    <a:latin typeface="Courier"/>
                  </a:rPr>
                  <a:t>abs</a:t>
                </a:r>
                <a:r>
                  <a:rPr>
                    <a:solidFill>
                      <a:srgbClr val="003B4F"/>
                    </a:solidFill>
                    <a:latin typeface="Courier"/>
                  </a:rPr>
                  <a:t>(t_stat) </a:t>
                </a:r>
                <a:r>
                  <a:rPr>
                    <a:solidFill>
                      <a:srgbClr val="5E5E5E"/>
                    </a:solidFill>
                    <a:latin typeface="Courier"/>
                  </a:rPr>
                  <a:t>|</a:t>
                </a:r>
                <a:r>
                  <a:rPr>
                    <a:solidFill>
                      <a:srgbClr val="003B4F"/>
                    </a:solidFill>
                    <a:latin typeface="Courier"/>
                  </a:rPr>
                  <a:t> x </a:t>
                </a:r>
                <a:r>
                  <a:rPr>
                    <a:solidFill>
                      <a:srgbClr val="5E5E5E"/>
                    </a:solidFill>
                    <a:latin typeface="Courier"/>
                  </a:rPr>
                  <a:t>&gt;=</a:t>
                </a:r>
                <a:r>
                  <a:rPr>
                    <a:solidFill>
                      <a:srgbClr val="003B4F"/>
                    </a:solidFill>
                    <a:latin typeface="Courier"/>
                  </a:rPr>
                  <a:t> </a:t>
                </a:r>
                <a:r>
                  <a:rPr>
                    <a:solidFill>
                      <a:srgbClr val="4758AB"/>
                    </a:solidFill>
                    <a:latin typeface="Courier"/>
                  </a:rPr>
                  <a:t>abs</a:t>
                </a:r>
                <a:r>
                  <a:rPr>
                    <a:solidFill>
                      <a:srgbClr val="003B4F"/>
                    </a:solidFill>
                    <a:latin typeface="Courier"/>
                  </a:rPr>
                  <a:t>(t_stat))</a:t>
                </a:r>
                <a:br/>
                <a:br/>
                <a:r>
                  <a:rPr>
                    <a:solidFill>
                      <a:srgbClr val="4758AB"/>
                    </a:solidFill>
                    <a:latin typeface="Courier"/>
                  </a:rPr>
                  <a:t>ggplot</a:t>
                </a:r>
                <a:r>
                  <a:rPr>
                    <a:solidFill>
                      <a:srgbClr val="003B4F"/>
                    </a:solidFill>
                    <a:latin typeface="Courier"/>
                  </a:rPr>
                  <a:t>(plot_df,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x, </a:t>
                </a:r>
                <a:r>
                  <a:rPr>
                    <a:solidFill>
                      <a:srgbClr val="657422"/>
                    </a:solidFill>
                    <a:latin typeface="Courier"/>
                  </a:rPr>
                  <a:t>y =</a:t>
                </a:r>
                <a:r>
                  <a:rPr>
                    <a:solidFill>
                      <a:srgbClr val="003B4F"/>
                    </a:solidFill>
                    <a:latin typeface="Courier"/>
                  </a:rPr>
                  <a:t> density)) </a:t>
                </a:r>
                <a:r>
                  <a:rPr>
                    <a:solidFill>
                      <a:srgbClr val="5E5E5E"/>
                    </a:solidFill>
                    <a:latin typeface="Courier"/>
                  </a:rPr>
                  <a:t>+</a:t>
                </a:r>
                <a:b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linewidth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5E5E5E"/>
                    </a:solidFill>
                    <a:latin typeface="Courier"/>
                  </a:rPr>
                  <a:t>+</a:t>
                </a:r>
                <a:br/>
                <a:br/>
                <a:r>
                  <a:rPr>
                    <a:solidFill>
                      <a:srgbClr val="003B4F"/>
                    </a:solidFill>
                    <a:latin typeface="Courier"/>
                  </a:rPr>
                  <a:t>  </a:t>
                </a:r>
                <a:r>
                  <a:rPr>
                    <a:solidFill>
                      <a:srgbClr val="4758AB"/>
                    </a:solidFill>
                    <a:latin typeface="Courier"/>
                  </a:rPr>
                  <a:t>geom_area</a:t>
                </a:r>
                <a:r>
                  <a:rPr>
                    <a:solidFill>
                      <a:srgbClr val="003B4F"/>
                    </a:solidFill>
                    <a:latin typeface="Courier"/>
                  </a:rPr>
                  <a:t>(</a:t>
                </a:r>
                <a:br/>
                <a:r>
                  <a:rPr>
                    <a:solidFill>
                      <a:srgbClr val="003B4F"/>
                    </a:solidFill>
                    <a:latin typeface="Courier"/>
                  </a:rPr>
                  <a:t>    </a:t>
                </a:r>
                <a:r>
                  <a:rPr>
                    <a:solidFill>
                      <a:srgbClr val="657422"/>
                    </a:solidFill>
                    <a:latin typeface="Courier"/>
                  </a:rPr>
                  <a:t>data =</a:t>
                </a:r>
                <a:r>
                  <a:rPr>
                    <a:solidFill>
                      <a:srgbClr val="003B4F"/>
                    </a:solidFill>
                    <a:latin typeface="Courier"/>
                  </a:rPr>
                  <a:t> shade_df,</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x, </a:t>
                </a:r>
                <a:r>
                  <a:rPr>
                    <a:solidFill>
                      <a:srgbClr val="657422"/>
                    </a:solidFill>
                    <a:latin typeface="Courier"/>
                  </a:rPr>
                  <a:t>y =</a:t>
                </a:r>
                <a:r>
                  <a:rPr>
                    <a:solidFill>
                      <a:srgbClr val="003B4F"/>
                    </a:solidFill>
                    <a:latin typeface="Courier"/>
                  </a:rPr>
                  <a:t> density),</a:t>
                </a:r>
                <a:b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0.4</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geom_vline</a:t>
                </a:r>
                <a:r>
                  <a:rPr>
                    <a:solidFill>
                      <a:srgbClr val="003B4F"/>
                    </a:solidFill>
                    <a:latin typeface="Courier"/>
                  </a:rPr>
                  <a:t>(</a:t>
                </a:r>
                <a:br/>
                <a:r>
                  <a:rPr>
                    <a:solidFill>
                      <a:srgbClr val="003B4F"/>
                    </a:solidFill>
                    <a:latin typeface="Courier"/>
                  </a:rPr>
                  <a:t>    </a:t>
                </a:r>
                <a:r>
                  <a:rPr>
                    <a:solidFill>
                      <a:srgbClr val="657422"/>
                    </a:solidFill>
                    <a:latin typeface="Courier"/>
                  </a:rPr>
                  <a:t>xintercept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5E5E5E"/>
                    </a:solidFill>
                    <a:latin typeface="Courier"/>
                  </a:rPr>
                  <a:t>-</a:t>
                </a:r>
                <a:r>
                  <a:rPr>
                    <a:solidFill>
                      <a:srgbClr val="4758AB"/>
                    </a:solidFill>
                    <a:latin typeface="Courier"/>
                  </a:rPr>
                  <a:t>abs</a:t>
                </a:r>
                <a:r>
                  <a:rPr>
                    <a:solidFill>
                      <a:srgbClr val="003B4F"/>
                    </a:solidFill>
                    <a:latin typeface="Courier"/>
                  </a:rPr>
                  <a:t>(t_stat), </a:t>
                </a:r>
                <a:r>
                  <a:rPr>
                    <a:solidFill>
                      <a:srgbClr val="4758AB"/>
                    </a:solidFill>
                    <a:latin typeface="Courier"/>
                  </a:rPr>
                  <a:t>abs</a:t>
                </a:r>
                <a:r>
                  <a:rPr>
                    <a:solidFill>
                      <a:srgbClr val="003B4F"/>
                    </a:solidFill>
                    <a:latin typeface="Courier"/>
                  </a:rPr>
                  <a:t>(t_stat)),</a:t>
                </a:r>
                <a:b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a:t>
                </a:r>
                <a:b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annotate</a:t>
                </a:r>
                <a:r>
                  <a:rPr>
                    <a:solidFill>
                      <a:srgbClr val="003B4F"/>
                    </a:solidFill>
                    <a:latin typeface="Courier"/>
                  </a:rPr>
                  <a:t>(</a:t>
                </a:r>
                <a:br/>
                <a:r>
                  <a:rPr>
                    <a:solidFill>
                      <a:srgbClr val="003B4F"/>
                    </a:solidFill>
                    <a:latin typeface="Courier"/>
                  </a:rPr>
                  <a:t>    </a:t>
                </a:r>
                <a:r>
                  <a:rPr>
                    <a:solidFill>
                      <a:srgbClr val="20794D"/>
                    </a:solidFill>
                    <a:latin typeface="Courier"/>
                  </a:rPr>
                  <a:t>"text"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abs</a:t>
                </a:r>
                <a:r>
                  <a:rPr>
                    <a:solidFill>
                      <a:srgbClr val="003B4F"/>
                    </a:solidFill>
                    <a:latin typeface="Courier"/>
                  </a:rPr>
                  <a:t>(t_stat),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AD0000"/>
                    </a:solidFill>
                    <a:latin typeface="Courier"/>
                  </a:rPr>
                  <a:t>0.03</a:t>
                </a:r>
                <a:r>
                  <a:rPr>
                    <a:solidFill>
                      <a:srgbClr val="003B4F"/>
                    </a:solidFill>
                    <a:latin typeface="Courier"/>
                  </a:rPr>
                  <a:t>,</a:t>
                </a:r>
                <a:br/>
                <a:r>
                  <a:rPr>
                    <a:solidFill>
                      <a:srgbClr val="003B4F"/>
                    </a:solidFill>
                    <a:latin typeface="Courier"/>
                  </a:rPr>
                  <a:t>    </a:t>
                </a:r>
                <a:r>
                  <a:rPr>
                    <a:solidFill>
                      <a:srgbClr val="657422"/>
                    </a:solidFill>
                    <a:latin typeface="Courier"/>
                  </a:rPr>
                  <a:t>label =</a:t>
                </a:r>
                <a:r>
                  <a:rPr>
                    <a:solidFill>
                      <a:srgbClr val="003B4F"/>
                    </a:solidFill>
                    <a:latin typeface="Courier"/>
                  </a:rPr>
                  <a:t> </a:t>
                </a:r>
                <a:r>
                  <a:rPr>
                    <a:solidFill>
                      <a:srgbClr val="20794D"/>
                    </a:solidFill>
                    <a:latin typeface="Courier"/>
                  </a:rPr>
                  <a:t>"t = 18.24"</a:t>
                </a:r>
                <a:r>
                  <a:rPr>
                    <a:solidFill>
                      <a:srgbClr val="003B4F"/>
                    </a:solidFill>
                    <a:latin typeface="Courier"/>
                  </a:rPr>
                  <a:t>,</a:t>
                </a:r>
                <a:br/>
                <a:r>
                  <a:rPr>
                    <a:solidFill>
                      <a:srgbClr val="003B4F"/>
                    </a:solidFill>
                    <a:latin typeface="Courier"/>
                  </a:rPr>
                  <a:t>    </a:t>
                </a:r>
                <a:r>
                  <a:rPr>
                    <a:solidFill>
                      <a:srgbClr val="657422"/>
                    </a:solidFill>
                    <a:latin typeface="Courier"/>
                  </a:rPr>
                  <a:t>hjust =</a:t>
                </a:r>
                <a:r>
                  <a:rPr>
                    <a:solidFill>
                      <a:srgbClr val="003B4F"/>
                    </a:solidFill>
                    <a:latin typeface="Courier"/>
                  </a:rPr>
                  <a:t> </a:t>
                </a:r>
                <a:r>
                  <a:rPr>
                    <a:solidFill>
                      <a:srgbClr val="5E5E5E"/>
                    </a:solidFill>
                    <a:latin typeface="Courier"/>
                  </a:rPr>
                  <a:t>-</a:t>
                </a:r>
                <a:r>
                  <a:rPr>
                    <a:solidFill>
                      <a:srgbClr val="AD0000"/>
                    </a:solidFill>
                    <a:latin typeface="Courier"/>
                  </a:rPr>
                  <a:t>0.1</a:t>
                </a:r>
                <a:r>
                  <a:rPr>
                    <a:solidFill>
                      <a:srgbClr val="003B4F"/>
                    </a:solidFill>
                    <a:latin typeface="Courier"/>
                  </a:rPr>
                  <a:t>,</a:t>
                </a:r>
                <a:b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4</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"Two-Tailed p-value from the t Distribution"</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4758AB"/>
                    </a:solidFill>
                    <a:latin typeface="Courier"/>
                  </a:rPr>
                  <a:t>expression</a:t>
                </a:r>
                <a:r>
                  <a:rPr>
                    <a:solidFill>
                      <a:srgbClr val="003B4F"/>
                    </a:solidFill>
                    <a:latin typeface="Courier"/>
                  </a:rPr>
                  <a:t>(</a:t>
                </a:r>
                <a:br/>
                <a:r>
                  <a:rPr>
                    <a:solidFill>
                      <a:srgbClr val="003B4F"/>
                    </a:solidFill>
                    <a:latin typeface="Courier"/>
                  </a:rPr>
                  <a:t>      </a:t>
                </a:r>
                <a:r>
                  <a:rPr>
                    <a:solidFill>
                      <a:srgbClr val="20794D"/>
                    </a:solidFill>
                    <a:latin typeface="Courier"/>
                  </a:rPr>
                  <a:t>"Paired t test: "</a:t>
                </a:r>
                <a:r>
                  <a:rPr>
                    <a:solidFill>
                      <a:srgbClr val="003B4F"/>
                    </a:solidFill>
                    <a:latin typeface="Courier"/>
                  </a:rPr>
                  <a:t> </a:t>
                </a:r>
                <a:r>
                  <a:rPr>
                    <a:solidFill>
                      <a:srgbClr val="5E5E5E"/>
                    </a:solidFill>
                    <a:latin typeface="Courier"/>
                  </a:rPr>
                  <a:t>~</a:t>
                </a:r>
                <a:br/>
                <a:r>
                  <a:rPr>
                    <a:solidFill>
                      <a:srgbClr val="003B4F"/>
                    </a:solidFill>
                    <a:latin typeface="Courier"/>
                  </a:rPr>
                  <a:t>      H[A] </a:t>
                </a:r>
                <a:r>
                  <a:rPr>
                    <a:solidFill>
                      <a:srgbClr val="5E5E5E"/>
                    </a:solidFill>
                    <a:latin typeface="Courier"/>
                  </a:rPr>
                  <a:t>~</a:t>
                </a:r>
                <a:r>
                  <a:rPr>
                    <a:solidFill>
                      <a:srgbClr val="003B4F"/>
                    </a:solidFill>
                    <a:latin typeface="Courier"/>
                  </a:rPr>
                  <a:t> </a:t>
                </a:r>
                <a:r>
                  <a:rPr>
                    <a:solidFill>
                      <a:srgbClr val="20794D"/>
                    </a:solidFill>
                    <a:latin typeface="Courier"/>
                  </a:rPr>
                  <a:t>":"</a:t>
                </a:r>
                <a:r>
                  <a:rPr>
                    <a:solidFill>
                      <a:srgbClr val="003B4F"/>
                    </a:solidFill>
                    <a:latin typeface="Courier"/>
                  </a:rPr>
                  <a:t> </a:t>
                </a:r>
                <a:r>
                  <a:rPr>
                    <a:solidFill>
                      <a:srgbClr val="5E5E5E"/>
                    </a:solidFill>
                    <a:latin typeface="Courier"/>
                  </a:rPr>
                  <a:t>~</a:t>
                </a:r>
                <a:r>
                  <a:rPr>
                    <a:solidFill>
                      <a:srgbClr val="003B4F"/>
                    </a:solidFill>
                    <a:latin typeface="Courier"/>
                  </a:rPr>
                  <a:t> mu[d] </a:t>
                </a:r>
                <a:r>
                  <a:rPr>
                    <a:solidFill>
                      <a:srgbClr val="5E5E5E"/>
                    </a:solidFill>
                    <a:latin typeface="Courier"/>
                  </a:rPr>
                  <a:t>!=</a:t>
                </a:r>
                <a:r>
                  <a:rPr>
                    <a:solidFill>
                      <a:srgbClr val="003B4F"/>
                    </a:solidFill>
                    <a:latin typeface="Courier"/>
                  </a:rPr>
                  <a:t> </a:t>
                </a:r>
                <a:r>
                  <a:rPr>
                    <a:solidFill>
                      <a:srgbClr val="AD0000"/>
                    </a:solidFill>
                    <a:latin typeface="Courier"/>
                  </a:rPr>
                  <a:t>0</a:t>
                </a:r>
                <a:br/>
                <a:r>
                  <a:rPr>
                    <a:solidFill>
                      <a:srgbClr val="003B4F"/>
                    </a:solidFill>
                    <a:latin typeface="Courier"/>
                  </a:rPr>
                  <a:t>    ),</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 statistic"</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"Density"</a:t>
                </a:r>
                <a:br/>
                <a:r>
                  <a:rPr>
                    <a:solidFill>
                      <a:srgbClr val="003B4F"/>
                    </a:solidFill>
                    <a:latin typeface="Courier"/>
                  </a:rPr>
                  <a:t>  ) </a:t>
                </a:r>
                <a:r>
                  <a:rPr>
                    <a:solidFill>
                      <a:srgbClr val="5E5E5E"/>
                    </a:solidFill>
                    <a:latin typeface="Courier"/>
                  </a:rPr>
                  <a:t>+</a:t>
                </a:r>
                <a:br/>
                <a:br/>
                <a:r>
                  <a:rPr>
                    <a:solidFill>
                      <a:srgbClr val="003B4F"/>
                    </a:solidFill>
                    <a:latin typeface="Courier"/>
                  </a:rPr>
                  <a:t>  </a:t>
                </a:r>
                <a:r>
                  <a:rPr>
                    <a:solidFill>
                      <a:srgbClr val="4758AB"/>
                    </a:solidFill>
                    <a:latin typeface="Courier"/>
                  </a:rPr>
                  <a:t>theme_bw</a:t>
                </a:r>
                <a:r>
                  <a:rPr>
                    <a:solidFill>
                      <a:srgbClr val="003B4F"/>
                    </a:solidFill>
                    <a:latin typeface="Courier"/>
                  </a:rPr>
                  <a:t>()</a:t>
                </a:r>
              </a:p>
              <a:p>
                <a:pPr lvl="0" indent="0" marL="0">
                  <a:buNone/>
                </a:pPr>
              </a:p>
              <a:p>
                <a:pPr lvl="0" indent="0" marL="0">
                  <a:buNone/>
                </a:pPr>
                <a:r>
                  <a:rPr b="1"/>
                  <a:t>Interpretation</a:t>
                </a:r>
              </a:p>
              <a:p>
                <a:pPr lvl="0"/>
                <a:r>
                  <a:rPr/>
                  <a:t>black curve represents the theoretical t distribution under the null hypothesis that the population mean paired difference equals 0</a:t>
                </a:r>
              </a:p>
              <a:p>
                <a:pPr lvl="0"/>
                <a:r>
                  <a:rPr/>
                  <a:t>dashed vertical lines mark the observed t-statistic values used to define the two-tailed p-value region</a:t>
                </a:r>
              </a:p>
              <a:p>
                <a:pPr lvl="0"/>
                <a:r>
                  <a:rPr/>
                  <a:t>shaded tail regions represent the p-value for the two-tailed paired t test </a:t>
                </a:r>
                <a14:m>
                  <m:oMath xmlns:m="http://schemas.openxmlformats.org/officeDocument/2006/math">
                    <m:sSub>
                      <m:e>
                        <m:r>
                          <m:t>H</m:t>
                        </m:r>
                      </m:e>
                      <m:sub>
                        <m:r>
                          <m:t>A</m:t>
                        </m:r>
                      </m:sub>
                    </m:sSub>
                    <m:r>
                      <m:rPr>
                        <m:sty m:val="p"/>
                      </m:rPr>
                      <m:t>:</m:t>
                    </m:r>
                    <m:sSub>
                      <m:e>
                        <m:r>
                          <m:t>μ</m:t>
                        </m:r>
                      </m:e>
                      <m:sub>
                        <m:r>
                          <m:t>d</m:t>
                        </m:r>
                      </m:sub>
                    </m:sSub>
                    <m:r>
                      <m:rPr>
                        <m:sty m:val="p"/>
                      </m:rPr>
                      <m:t>≠</m:t>
                    </m:r>
                    <m:r>
                      <m:t>0</m:t>
                    </m:r>
                  </m:oMath>
                </a14:m>
              </a:p>
              <a:p>
                <a:pPr lvl="0"/>
                <a:r>
                  <a:rPr/>
                  <a:t>observed t-statistic is far from the center of the distribution, so the combined shaded probability area is extremely small </a:t>
                </a:r>
                <a14:m>
                  <m:oMath xmlns:m="http://schemas.openxmlformats.org/officeDocument/2006/math">
                    <m:r>
                      <m:rPr>
                        <m:sty m:val="p"/>
                      </m:rPr>
                      <m:t>→</m:t>
                    </m:r>
                  </m:oMath>
                </a14:m>
                <a:r>
                  <a:rPr/>
                  <a:t> indicates that observing a mean paired difference this extreme would be very unlikely if the true population mean difference were actually 0</a:t>
                </a:r>
              </a:p>
              <a:p>
                <a:pPr lvl="0"/>
                <a:r>
                  <a:rPr/>
                  <a:t>extremely small p-value provides strong statistical evidence that the population mean within-patient symptom change differs from 0</a:t>
                </a:r>
              </a:p>
              <a:p>
                <a:pPr lvl="0"/>
                <a:r>
                  <a:rPr/>
                  <a:t>black curve represents the theoretical t distribution under the null hypothesis that the population mean paired difference equals 0</a:t>
                </a:r>
              </a:p>
              <a:p>
                <a:pPr lvl="0"/>
                <a:r>
                  <a:rPr/>
                  <a:t>dashed vertical lines mark the observed t-statistic values used to define the two-tailed p-value region</a:t>
                </a:r>
              </a:p>
              <a:p>
                <a:pPr lvl="0"/>
                <a:r>
                  <a:rPr/>
                  <a:t>paired t test uses the alternative hypothesis: </a:t>
                </a:r>
                <a14:m>
                  <m:oMath xmlns:m="http://schemas.openxmlformats.org/officeDocument/2006/math">
                    <m:sSub>
                      <m:e>
                        <m:r>
                          <m:t>H</m:t>
                        </m:r>
                      </m:e>
                      <m:sub>
                        <m:r>
                          <m:t>A</m:t>
                        </m:r>
                      </m:sub>
                    </m:sSub>
                    <m:r>
                      <m:rPr>
                        <m:sty m:val="p"/>
                      </m:rPr>
                      <m:t>:</m:t>
                    </m:r>
                    <m:sSub>
                      <m:e>
                        <m:r>
                          <m:t>μ</m:t>
                        </m:r>
                      </m:e>
                      <m:sub>
                        <m:r>
                          <m:t>d</m:t>
                        </m:r>
                      </m:sub>
                    </m:sSub>
                    <m:r>
                      <m:rPr>
                        <m:sty m:val="p"/>
                      </m:rPr>
                      <m:t>≠</m:t>
                    </m:r>
                    <m:r>
                      <m:t>0</m:t>
                    </m:r>
                  </m:oMath>
                </a14:m>
              </a:p>
              <a:p>
                <a:pPr lvl="0"/>
                <a:r>
                  <a:rPr/>
                  <a:t>observed t-statistic [t=18.24] is extremely far from the center of the distribution, indicating the observed mean paired difference is many estimated standard errors away from 0</a:t>
                </a:r>
              </a:p>
              <a:p>
                <a:pPr lvl="0"/>
                <a:r>
                  <a:rPr/>
                  <a:t>shaded tail areas would represent the probability of observing a t-statistic this extreme or more extreme in either direction if the true population mean paired difference were actually 0</a:t>
                </a:r>
              </a:p>
              <a:p>
                <a:pPr lvl="0"/>
                <a:r>
                  <a:rPr/>
                  <a:t>tail probabilities are extremely small </a:t>
                </a:r>
                <a14:m>
                  <m:oMath xmlns:m="http://schemas.openxmlformats.org/officeDocument/2006/math">
                    <m:r>
                      <m:rPr>
                        <m:sty m:val="p"/>
                      </m:rPr>
                      <m:t>→</m:t>
                    </m:r>
                  </m:oMath>
                </a14:m>
                <a:r>
                  <a:rPr/>
                  <a:t> p-value is small [p = &lt; 2.2e-16]</a:t>
                </a:r>
              </a:p>
              <a:p>
                <a:pPr lvl="0"/>
                <a:r>
                  <a:rPr/>
                  <a:t>provides statistical evidence that the average within-patient symptom score changed after treatment</a:t>
                </a:r>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Summary</a:t>
                </a:r>
              </a:p>
              <a:p>
                <a:pPr lvl="0"/>
                <a:r>
                  <a:rPr/>
                  <a:t>t-tests provide a statistical framework for determining whether an observed sample difference is large relative to ordinary sampling variability</a:t>
                </a:r>
              </a:p>
              <a:p>
                <a:pPr lvl="0"/>
                <a:r>
                  <a:rPr/>
                  <a:t>t-statistic measures how far an observed estimate is from the null hypothesis value after accounting for uncertainty and variability in the data</a:t>
                </a:r>
              </a:p>
              <a:p>
                <a:pPr lvl="0"/>
                <a:r>
                  <a:rPr/>
                  <a:t>p-value quantifies how unusual the observed result would be if the null hypothesis were true</a:t>
                </a:r>
              </a:p>
              <a:p>
                <a:pPr lvl="0"/>
                <a:r>
                  <a:rPr/>
                  <a:t>small p-values indicate stronger evidence against the null hypothesis because the observed result would be unlikely under the null model</a:t>
                </a:r>
              </a:p>
              <a:p>
                <a:pPr lvl="0"/>
                <a:r>
                  <a:rPr/>
                  <a:t>t distribution is used because the population standard deviation is typically unknown and must be estimated from the sample data</a:t>
                </a:r>
              </a:p>
              <a:p>
                <a:pPr lvl="0"/>
                <a:r>
                  <a:rPr/>
                  <a:t>small sample sizes introduce greater uncertainty </a:t>
                </a:r>
                <a14:m>
                  <m:oMath xmlns:m="http://schemas.openxmlformats.org/officeDocument/2006/math">
                    <m:r>
                      <m:rPr>
                        <m:sty m:val="p"/>
                      </m:rPr>
                      <m:t>→</m:t>
                    </m:r>
                  </m:oMath>
                </a14:m>
                <a:r>
                  <a:rPr/>
                  <a:t> producing heavier tails in the t distribution</a:t>
                </a:r>
              </a:p>
            </p:txBody>
          </p:sp>
        </mc:Choice>
      </mc:AlternateContent>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Summary</a:t>
            </a:r>
          </a:p>
          <a:p>
            <a:pPr lvl="0"/>
            <a:r>
              <a:rPr/>
              <a:t>different t-tests are used depending on the scientific design and structure of the data:</a:t>
            </a:r>
          </a:p>
          <a:p>
            <a:pPr lvl="1"/>
            <a:r>
              <a:rPr/>
              <a:t>one-sample t test evaluates one population mean against a benchmark</a:t>
            </a:r>
          </a:p>
          <a:p>
            <a:pPr lvl="1"/>
            <a:r>
              <a:rPr/>
              <a:t>independent two-sample t test evaluates mean differences between independent groups</a:t>
            </a:r>
          </a:p>
          <a:p>
            <a:pPr lvl="1"/>
            <a:r>
              <a:rPr/>
              <a:t>paired t test evaluates mean within-subject or within-patient differences</a:t>
            </a:r>
          </a:p>
          <a:p>
            <a:pPr lvl="0"/>
            <a:r>
              <a:rPr/>
              <a:t>alternative hypothesis determines whether the p-value is calculated from the left tail, right tail, or both tails of the t distribution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 for Continuous Data</dc:title>
  <dc:creator> Lesley Chapman Hannah, Ph.D., M.S. College of Graduate Studies Northeast Ohio Medical University</dc:creator>
  <cp:keywords/>
  <dcterms:created xsi:type="dcterms:W3CDTF">2026-06-03T21:25:35Z</dcterms:created>
  <dcterms:modified xsi:type="dcterms:W3CDTF">2026-06-03T21:25:35Z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xecute">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